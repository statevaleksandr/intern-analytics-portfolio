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">
          <p15:clr>
            <a:srgbClr val="747775"/>
          </p15:clr>
        </p15:guide>
        <p15:guide id="2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57"/>
        <p:guide orient="horz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Максим</a:t>
            </a:r>
            <a:endParaRPr/>
          </a:p>
        </p:txBody>
      </p:sp>
      <p:sp>
        <p:nvSpPr>
          <p:cNvPr id="229" name="Google Shape;2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Саня</a:t>
            </a:r>
            <a:endParaRPr/>
          </a:p>
        </p:txBody>
      </p:sp>
      <p:sp>
        <p:nvSpPr>
          <p:cNvPr id="243" name="Google Shape;24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Саня</a:t>
            </a:r>
            <a:endParaRPr/>
          </a:p>
        </p:txBody>
      </p:sp>
      <p:sp>
        <p:nvSpPr>
          <p:cNvPr id="268" name="Google Shape;2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2ef8ef21c_9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3d2ef8ef21c_9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Матвей</a:t>
            </a:r>
            <a:endParaRPr/>
          </a:p>
        </p:txBody>
      </p:sp>
      <p:sp>
        <p:nvSpPr>
          <p:cNvPr id="292" name="Google Shape;292;g3d2ef8ef21c_9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300a7caca_1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g3d300a7caca_11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Матвей</a:t>
            </a:r>
            <a:endParaRPr/>
          </a:p>
        </p:txBody>
      </p:sp>
      <p:sp>
        <p:nvSpPr>
          <p:cNvPr id="320" name="Google Shape;320;g3d300a7caca_11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2ef8ef21c_3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g3d2ef8ef21c_3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Максим</a:t>
            </a:r>
            <a:endParaRPr/>
          </a:p>
        </p:txBody>
      </p:sp>
      <p:sp>
        <p:nvSpPr>
          <p:cNvPr id="348" name="Google Shape;348;g3d2ef8ef21c_3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" name="Google Shape;3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Максим</a:t>
            </a:r>
            <a:endParaRPr/>
          </a:p>
        </p:txBody>
      </p:sp>
      <p:sp>
        <p:nvSpPr>
          <p:cNvPr id="376" name="Google Shape;37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2ef8ef21c_3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g3d2ef8ef21c_3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Максим </a:t>
            </a:r>
            <a:endParaRPr/>
          </a:p>
        </p:txBody>
      </p:sp>
      <p:sp>
        <p:nvSpPr>
          <p:cNvPr id="405" name="Google Shape;405;g3d2ef8ef21c_3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2ef8ef21c_3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g3d2ef8ef21c_3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Валера/Матвей </a:t>
            </a:r>
            <a:endParaRPr/>
          </a:p>
        </p:txBody>
      </p:sp>
      <p:sp>
        <p:nvSpPr>
          <p:cNvPr id="423" name="Google Shape;423;g3d2ef8ef21c_3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300a7caca_1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2" name="Google Shape;442;g3d300a7caca_1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Даниил</a:t>
            </a:r>
            <a:endParaRPr/>
          </a:p>
        </p:txBody>
      </p:sp>
      <p:sp>
        <p:nvSpPr>
          <p:cNvPr id="443" name="Google Shape;443;g3d300a7caca_1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300a7caca_1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g3d300a7caca_10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Даниил</a:t>
            </a:r>
            <a:endParaRPr/>
          </a:p>
        </p:txBody>
      </p:sp>
      <p:sp>
        <p:nvSpPr>
          <p:cNvPr id="481" name="Google Shape;481;g3d300a7caca_10_1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300a7caca_1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g3d300a7caca_10_4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Даниил</a:t>
            </a:r>
            <a:endParaRPr/>
          </a:p>
        </p:txBody>
      </p:sp>
      <p:sp>
        <p:nvSpPr>
          <p:cNvPr id="519" name="Google Shape;519;g3d300a7caca_10_4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300a7caca_1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3d300a7caca_10_5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Валера</a:t>
            </a:r>
            <a:endParaRPr/>
          </a:p>
        </p:txBody>
      </p:sp>
      <p:sp>
        <p:nvSpPr>
          <p:cNvPr id="547" name="Google Shape;547;g3d300a7caca_10_5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3690" y="417310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Заголовок и объект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>
  <p:cSld name="Сравнение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>
  <p:cSld name="Объект с подписью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>
  <p:cSld name="Рисунок с подписью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/>
          <p:nvPr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>
  <p:cSld name="Заголовок и вертикальный текст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>
  <p:cSld name="Вертикальный заголовок и текст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2"/>
          <p:cNvSpPr/>
          <p:nvPr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3690" y="417310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Заголовок и объект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-1" y="0"/>
            <a:ext cx="886800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91407" y="6055360"/>
            <a:ext cx="4753500" cy="8025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893129" y="0"/>
            <a:ext cx="4741200" cy="7824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642879" y="0"/>
            <a:ext cx="2507100" cy="7824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636260" y="6055360"/>
            <a:ext cx="2507100" cy="8025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160152" y="0"/>
            <a:ext cx="4031700" cy="7824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11305311" y="1227"/>
            <a:ext cx="88680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8139832" y="6055360"/>
            <a:ext cx="4049100" cy="8025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132681" y="134899"/>
            <a:ext cx="11926500" cy="6602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>
  <p:cSld name="Два объекта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/>
          <p:nvPr/>
        </p:nvSpPr>
        <p:spPr>
          <a:xfrm>
            <a:off x="-1" y="0"/>
            <a:ext cx="886800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891407" y="6055360"/>
            <a:ext cx="4753500" cy="8025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893129" y="0"/>
            <a:ext cx="4741200" cy="7824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642879" y="0"/>
            <a:ext cx="2507100" cy="7824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636260" y="6055360"/>
            <a:ext cx="2507100" cy="8025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160152" y="0"/>
            <a:ext cx="4031700" cy="7824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11305311" y="1227"/>
            <a:ext cx="88680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139832" y="6055360"/>
            <a:ext cx="4049100" cy="8025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132681" y="134899"/>
            <a:ext cx="11926500" cy="6602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>
  <p:cSld name="Сравнение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/>
          <p:nvPr/>
        </p:nvSpPr>
        <p:spPr>
          <a:xfrm>
            <a:off x="-1" y="0"/>
            <a:ext cx="886800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891407" y="6055360"/>
            <a:ext cx="4753500" cy="8025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893129" y="0"/>
            <a:ext cx="4741200" cy="7824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642879" y="0"/>
            <a:ext cx="2507100" cy="7824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636260" y="6055360"/>
            <a:ext cx="2507100" cy="8025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8160152" y="0"/>
            <a:ext cx="4031700" cy="7824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11305311" y="1227"/>
            <a:ext cx="88680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8139832" y="6055360"/>
            <a:ext cx="4049100" cy="8025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132681" y="134899"/>
            <a:ext cx="11926500" cy="6602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>
  <p:cSld name="Только заголовок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-1" y="0"/>
            <a:ext cx="886800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891407" y="6055360"/>
            <a:ext cx="4753500" cy="8025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893129" y="0"/>
            <a:ext cx="4741200" cy="7824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642879" y="0"/>
            <a:ext cx="2507100" cy="7824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636260" y="6055360"/>
            <a:ext cx="2507100" cy="8025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8160152" y="0"/>
            <a:ext cx="4031700" cy="7824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11305311" y="1227"/>
            <a:ext cx="88680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8139832" y="6055360"/>
            <a:ext cx="4049100" cy="8025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132681" y="134899"/>
            <a:ext cx="11926500" cy="6602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-1" y="0"/>
            <a:ext cx="886800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891407" y="6055360"/>
            <a:ext cx="4753500" cy="8025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93129" y="0"/>
            <a:ext cx="4741200" cy="7824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642879" y="0"/>
            <a:ext cx="2507100" cy="7824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636260" y="6055360"/>
            <a:ext cx="2507100" cy="8025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160152" y="0"/>
            <a:ext cx="4031700" cy="7824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1305311" y="1227"/>
            <a:ext cx="88680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8139832" y="6055360"/>
            <a:ext cx="4049100" cy="8025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32681" y="134899"/>
            <a:ext cx="11926500" cy="6602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>
  <p:cSld name="Объект с подписью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-1" y="0"/>
            <a:ext cx="886800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891407" y="6055360"/>
            <a:ext cx="4753500" cy="8025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893129" y="0"/>
            <a:ext cx="4741200" cy="7824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642879" y="0"/>
            <a:ext cx="2507100" cy="7824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636260" y="6055360"/>
            <a:ext cx="2507100" cy="8025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8160152" y="0"/>
            <a:ext cx="4031700" cy="7824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1305311" y="1227"/>
            <a:ext cx="88680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8139832" y="6055360"/>
            <a:ext cx="4049100" cy="8025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32681" y="134899"/>
            <a:ext cx="11926500" cy="6602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>
  <p:cSld name="Рисунок с подписью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/>
        </p:nvSpPr>
        <p:spPr>
          <a:xfrm>
            <a:off x="-1" y="0"/>
            <a:ext cx="886800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891407" y="6055360"/>
            <a:ext cx="4753500" cy="8025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893129" y="0"/>
            <a:ext cx="4741200" cy="7824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5642879" y="0"/>
            <a:ext cx="2507100" cy="7824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5636260" y="6055360"/>
            <a:ext cx="2507100" cy="8025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8160152" y="0"/>
            <a:ext cx="4031700" cy="7824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11305311" y="1227"/>
            <a:ext cx="88680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8139832" y="6055360"/>
            <a:ext cx="4049100" cy="8025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132681" y="134899"/>
            <a:ext cx="11926500" cy="6602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>
  <p:cSld name="Заголовок и вертикальный текст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-1" y="0"/>
            <a:ext cx="886800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891407" y="6055360"/>
            <a:ext cx="4753500" cy="8025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893129" y="0"/>
            <a:ext cx="4741200" cy="7824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5642879" y="0"/>
            <a:ext cx="2507100" cy="7824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5636260" y="6055360"/>
            <a:ext cx="2507100" cy="8025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8160152" y="0"/>
            <a:ext cx="4031700" cy="7824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11305311" y="1227"/>
            <a:ext cx="88680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8139832" y="6055360"/>
            <a:ext cx="4049100" cy="8025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132681" y="134899"/>
            <a:ext cx="11926500" cy="6602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>
  <p:cSld name="Вертикальный заголовок и текст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/>
          <p:nvPr/>
        </p:nvSpPr>
        <p:spPr>
          <a:xfrm>
            <a:off x="-1" y="0"/>
            <a:ext cx="886800" cy="6858000"/>
          </a:xfrm>
          <a:prstGeom prst="rect">
            <a:avLst/>
          </a:prstGeom>
          <a:solidFill>
            <a:srgbClr val="0F2D69"/>
          </a:solidFill>
          <a:ln w="12700" cap="flat" cmpd="sng">
            <a:solidFill>
              <a:srgbClr val="0F2D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891407" y="6055360"/>
            <a:ext cx="4753500" cy="8025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893129" y="0"/>
            <a:ext cx="4741200" cy="782400"/>
          </a:xfrm>
          <a:prstGeom prst="rect">
            <a:avLst/>
          </a:prstGeom>
          <a:solidFill>
            <a:srgbClr val="E61E3C"/>
          </a:solidFill>
          <a:ln w="12700" cap="flat" cmpd="sng">
            <a:solidFill>
              <a:srgbClr val="E61E3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5642879" y="0"/>
            <a:ext cx="2507100" cy="7824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5636260" y="6055360"/>
            <a:ext cx="2507100" cy="802500"/>
          </a:xfrm>
          <a:prstGeom prst="rect">
            <a:avLst/>
          </a:prstGeom>
          <a:solidFill>
            <a:srgbClr val="F5C3C3"/>
          </a:solidFill>
          <a:ln w="12700" cap="flat" cmpd="sng">
            <a:solidFill>
              <a:srgbClr val="F5C3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8160152" y="0"/>
            <a:ext cx="4031700" cy="7824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11305311" y="1227"/>
            <a:ext cx="886800" cy="68580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8139832" y="6055360"/>
            <a:ext cx="4049100" cy="802500"/>
          </a:xfrm>
          <a:prstGeom prst="rect">
            <a:avLst/>
          </a:prstGeom>
          <a:solidFill>
            <a:srgbClr val="CD5A5A"/>
          </a:solidFill>
          <a:ln w="12700" cap="flat" cmpd="sng">
            <a:solidFill>
              <a:srgbClr val="CD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132681" y="134899"/>
            <a:ext cx="11926500" cy="66024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800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9151" y="255132"/>
            <a:ext cx="2017378" cy="1006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/>
        </p:nvSpPr>
        <p:spPr>
          <a:xfrm>
            <a:off x="5752717" y="652645"/>
            <a:ext cx="2346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Управление цифровым продуктом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25"/>
          <p:cNvCxnSpPr/>
          <p:nvPr/>
        </p:nvCxnSpPr>
        <p:spPr>
          <a:xfrm>
            <a:off x="5649835" y="463409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3" name="Google Shape;233;p25"/>
          <p:cNvCxnSpPr/>
          <p:nvPr/>
        </p:nvCxnSpPr>
        <p:spPr>
          <a:xfrm>
            <a:off x="8202204" y="463409"/>
            <a:ext cx="0" cy="840173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4" name="Google Shape;234;p25"/>
          <p:cNvSpPr txBox="1"/>
          <p:nvPr/>
        </p:nvSpPr>
        <p:spPr>
          <a:xfrm>
            <a:off x="8357009" y="614270"/>
            <a:ext cx="207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br>
              <a:rPr lang="en-GB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790525" y="3594625"/>
            <a:ext cx="10285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-GB" sz="6400" b="1">
                <a:solidFill>
                  <a:srgbClr val="088931"/>
                </a:solidFill>
              </a:rPr>
              <a:t>Flor2U:</a:t>
            </a:r>
            <a:r>
              <a:rPr lang="en-GB" sz="4600" b="1">
                <a:solidFill>
                  <a:srgbClr val="088931"/>
                </a:solidFill>
              </a:rPr>
              <a:t>сервис доставки цветов</a:t>
            </a:r>
            <a:endParaRPr sz="4600" b="1" i="0" u="none" strike="noStrike" cap="none">
              <a:solidFill>
                <a:srgbClr val="088931"/>
              </a:solidFill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0" y="3676073"/>
            <a:ext cx="674255" cy="914400"/>
          </a:xfrm>
          <a:prstGeom prst="rect">
            <a:avLst/>
          </a:prstGeom>
          <a:solidFill>
            <a:srgbClr val="00C750"/>
          </a:solidFill>
          <a:ln w="12700" cap="flat" cmpd="sng">
            <a:solidFill>
              <a:srgbClr val="00C7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7185325" y="5052825"/>
            <a:ext cx="4540200" cy="13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rgbClr val="12398C"/>
                </a:solidFill>
              </a:rPr>
              <a:t>Статьев Александр Александрович 222</a:t>
            </a:r>
            <a:br>
              <a:rPr lang="en-GB" sz="1600">
                <a:solidFill>
                  <a:srgbClr val="12398C"/>
                </a:solidFill>
              </a:rPr>
            </a:br>
            <a:endParaRPr sz="1600">
              <a:solidFill>
                <a:srgbClr val="12398C"/>
              </a:solidFill>
            </a:endParaRPr>
          </a:p>
        </p:txBody>
      </p:sp>
      <p:pic>
        <p:nvPicPr>
          <p:cNvPr id="238" name="Google Shape;2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6875" y="396737"/>
            <a:ext cx="973500" cy="9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/>
          <p:nvPr/>
        </p:nvSpPr>
        <p:spPr>
          <a:xfrm>
            <a:off x="11517600" y="3676073"/>
            <a:ext cx="674400" cy="914400"/>
          </a:xfrm>
          <a:prstGeom prst="rect">
            <a:avLst/>
          </a:prstGeom>
          <a:solidFill>
            <a:srgbClr val="00C750"/>
          </a:solidFill>
          <a:ln w="12700" cap="flat" cmpd="sng">
            <a:solidFill>
              <a:srgbClr val="00C7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Google Shape;245;p2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6" name="Google Shape;246;p2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7" name="Google Shape;247;p2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8" name="Google Shape;248;p26"/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2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0" name="Google Shape;250;p26"/>
          <p:cNvSpPr txBox="1"/>
          <p:nvPr/>
        </p:nvSpPr>
        <p:spPr>
          <a:xfrm>
            <a:off x="6158118" y="497315"/>
            <a:ext cx="2346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 к</a:t>
            </a:r>
            <a:r>
              <a:rPr lang="en-GB">
                <a:solidFill>
                  <a:schemeClr val="dk1"/>
                </a:solidFill>
              </a:rPr>
              <a:t>о</a:t>
            </a:r>
            <a:r>
              <a:rPr lang="en-GB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мпании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8142375" y="1628475"/>
            <a:ext cx="273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>
                <a:solidFill>
                  <a:srgbClr val="102D69"/>
                </a:solidFill>
              </a:rPr>
              <a:t>О компании</a:t>
            </a:r>
            <a:endParaRPr sz="2400" b="1" i="0" u="none" strike="noStrike" cap="none">
              <a:solidFill>
                <a:srgbClr val="102D69"/>
              </a:solidFill>
            </a:endParaRPr>
          </a:p>
        </p:txBody>
      </p:sp>
      <p:pic>
        <p:nvPicPr>
          <p:cNvPr id="252" name="Google Shape;2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6725" y="2325553"/>
            <a:ext cx="3228200" cy="32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64525" y="2571625"/>
            <a:ext cx="6941400" cy="11214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57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00" tIns="150700" rIns="150700" bIns="150700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3"/>
              <a:buFont typeface="Arial"/>
              <a:buNone/>
            </a:pPr>
            <a:endParaRPr sz="2637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407750" y="1268950"/>
            <a:ext cx="6895500" cy="11856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53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975" tIns="146975" rIns="146975" bIns="14697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endParaRPr sz="1929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410475" y="3815125"/>
            <a:ext cx="6895500" cy="14166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54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8050" tIns="148050" rIns="148050" bIns="14805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endParaRPr sz="1943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393700" y="5331850"/>
            <a:ext cx="6895500" cy="1372800"/>
          </a:xfrm>
          <a:prstGeom prst="roundRect">
            <a:avLst>
              <a:gd name="adj" fmla="val 16667"/>
            </a:avLst>
          </a:prstGeom>
          <a:solidFill>
            <a:srgbClr val="FCFDFF"/>
          </a:solidFill>
          <a:ln w="1567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600" tIns="150600" rIns="150600" bIns="1506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6"/>
              <a:buFont typeface="Arial"/>
              <a:buNone/>
            </a:pPr>
            <a:endParaRPr sz="1977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614850" y="2454550"/>
            <a:ext cx="6674400" cy="1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00" tIns="150700" rIns="150700" bIns="150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8" b="1">
                <a:solidFill>
                  <a:srgbClr val="088931"/>
                </a:solidFill>
              </a:rPr>
              <a:t>Охват</a:t>
            </a:r>
            <a:endParaRPr sz="2308" b="1">
              <a:solidFill>
                <a:srgbClr val="08893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43">
                <a:solidFill>
                  <a:schemeClr val="dk1"/>
                </a:solidFill>
              </a:rPr>
              <a:t>Работает с 2010 года. Доставка в 150+ городов России и за рубеж</a:t>
            </a:r>
            <a:endParaRPr sz="4945">
              <a:solidFill>
                <a:schemeClr val="dk1"/>
              </a:solidFill>
            </a:endParaRPr>
          </a:p>
        </p:txBody>
      </p:sp>
      <p:sp>
        <p:nvSpPr>
          <p:cNvPr id="258" name="Google Shape;258;p26"/>
          <p:cNvSpPr txBox="1"/>
          <p:nvPr/>
        </p:nvSpPr>
        <p:spPr>
          <a:xfrm>
            <a:off x="592675" y="1126725"/>
            <a:ext cx="6713100" cy="14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975" tIns="146975" rIns="146975" bIns="1469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0" b="1">
                <a:solidFill>
                  <a:srgbClr val="088931"/>
                </a:solidFill>
              </a:rPr>
              <a:t>Доля рынка</a:t>
            </a:r>
            <a:endParaRPr sz="2250" b="1">
              <a:solidFill>
                <a:srgbClr val="08893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2090">
                <a:solidFill>
                  <a:schemeClr val="dk1"/>
                </a:solidFill>
              </a:rPr>
              <a:t>Один из крупнейших сервисов онлайн-доставки цветов в РФ</a:t>
            </a:r>
            <a:endParaRPr sz="2090">
              <a:solidFill>
                <a:schemeClr val="dk1"/>
              </a:solidFill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656425" y="3739800"/>
            <a:ext cx="6572400" cy="1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8050" tIns="148050" rIns="148050" bIns="1480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67" b="1">
                <a:solidFill>
                  <a:srgbClr val="088931"/>
                </a:solidFill>
              </a:rPr>
              <a:t>Главный конкурент</a:t>
            </a:r>
            <a:endParaRPr sz="2267" b="1">
              <a:solidFill>
                <a:srgbClr val="08893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2105" b="1">
                <a:solidFill>
                  <a:srgbClr val="E61E3C"/>
                </a:solidFill>
              </a:rPr>
              <a:t>Flowwow.</a:t>
            </a:r>
            <a:r>
              <a:rPr lang="en-GB" sz="2105">
                <a:solidFill>
                  <a:schemeClr val="dk1"/>
                </a:solidFill>
              </a:rPr>
              <a:t> В отличие от Flowwow </a:t>
            </a:r>
            <a:r>
              <a:rPr lang="en-GB" sz="2105" b="1">
                <a:solidFill>
                  <a:srgbClr val="244A9A"/>
                </a:solidFill>
              </a:rPr>
              <a:t>Flor2u</a:t>
            </a:r>
            <a:r>
              <a:rPr lang="en-GB" sz="2105">
                <a:solidFill>
                  <a:schemeClr val="dk1"/>
                </a:solidFill>
              </a:rPr>
              <a:t> работает как единый бренд с централизованным контролем качества</a:t>
            </a:r>
            <a:endParaRPr sz="4858">
              <a:solidFill>
                <a:schemeClr val="dk1"/>
              </a:solidFill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626250" y="5170750"/>
            <a:ext cx="6713100" cy="1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600" tIns="150600" rIns="150600" bIns="1506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6" b="1">
                <a:solidFill>
                  <a:srgbClr val="088931"/>
                </a:solidFill>
              </a:rPr>
              <a:t>Ниша</a:t>
            </a:r>
            <a:endParaRPr sz="2306" b="1">
              <a:solidFill>
                <a:srgbClr val="08893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41" b="1">
                <a:solidFill>
                  <a:srgbClr val="244A9A"/>
                </a:solidFill>
              </a:rPr>
              <a:t>Mass-market</a:t>
            </a:r>
            <a:r>
              <a:rPr lang="en-GB" sz="2141">
                <a:solidFill>
                  <a:schemeClr val="dk1"/>
                </a:solidFill>
              </a:rPr>
              <a:t> и </a:t>
            </a:r>
            <a:r>
              <a:rPr lang="en-GB" sz="2141" b="1">
                <a:solidFill>
                  <a:srgbClr val="244A9A"/>
                </a:solidFill>
              </a:rPr>
              <a:t>Middle</a:t>
            </a:r>
            <a:r>
              <a:rPr lang="en-GB" sz="2141">
                <a:solidFill>
                  <a:schemeClr val="dk1"/>
                </a:solidFill>
              </a:rPr>
              <a:t>. Ставка на доступность, скорость и предсказуемость результата</a:t>
            </a:r>
            <a:endParaRPr sz="2141">
              <a:solidFill>
                <a:schemeClr val="dk1"/>
              </a:solidFill>
            </a:endParaRPr>
          </a:p>
        </p:txBody>
      </p:sp>
      <p:sp>
        <p:nvSpPr>
          <p:cNvPr id="261" name="Google Shape;261;p26"/>
          <p:cNvSpPr/>
          <p:nvPr/>
        </p:nvSpPr>
        <p:spPr>
          <a:xfrm rot="-5400000">
            <a:off x="-230600" y="4354027"/>
            <a:ext cx="1427400" cy="3399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88931"/>
          </a:solidFill>
          <a:ln>
            <a:noFill/>
          </a:ln>
        </p:spPr>
        <p:txBody>
          <a:bodyPr spcFirstLastPara="1" wrap="square" lIns="148050" tIns="148050" rIns="148050" bIns="148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endParaRPr sz="22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 rot="-5400000">
            <a:off x="-128825" y="1695675"/>
            <a:ext cx="1206000" cy="327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88931"/>
          </a:solidFill>
          <a:ln>
            <a:noFill/>
          </a:ln>
        </p:spPr>
        <p:txBody>
          <a:bodyPr spcFirstLastPara="1" wrap="square" lIns="146975" tIns="146975" rIns="146975" bIns="1469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endParaRPr sz="2250" b="0" i="0" u="none" strike="noStrike" cap="none">
              <a:solidFill>
                <a:srgbClr val="12398C"/>
              </a:solidFill>
              <a:highlight>
                <a:srgbClr val="12398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 rot="-5400000">
            <a:off x="-214325" y="5845310"/>
            <a:ext cx="1395600" cy="3459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88931"/>
          </a:solidFill>
          <a:ln>
            <a:noFill/>
          </a:ln>
        </p:spPr>
        <p:txBody>
          <a:bodyPr spcFirstLastPara="1" wrap="square" lIns="150600" tIns="150600" rIns="150600" bIns="1506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6"/>
              <a:buFont typeface="Arial"/>
              <a:buNone/>
            </a:pPr>
            <a:endParaRPr sz="2306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 rot="-5400000">
            <a:off x="-95225" y="2963441"/>
            <a:ext cx="1138800" cy="3399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88931"/>
          </a:solidFill>
          <a:ln>
            <a:noFill/>
          </a:ln>
        </p:spPr>
        <p:txBody>
          <a:bodyPr spcFirstLastPara="1" wrap="square" lIns="148050" tIns="148050" rIns="148050" bIns="148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7"/>
              <a:buFont typeface="Arial"/>
              <a:buNone/>
            </a:pPr>
            <a:endParaRPr sz="226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27"/>
          <p:cNvCxnSpPr/>
          <p:nvPr/>
        </p:nvCxnSpPr>
        <p:spPr>
          <a:xfrm>
            <a:off x="329868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1" name="Google Shape;271;p27"/>
          <p:cNvCxnSpPr/>
          <p:nvPr/>
        </p:nvCxnSpPr>
        <p:spPr>
          <a:xfrm>
            <a:off x="609941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2" name="Google Shape;272;p27"/>
          <p:cNvSpPr txBox="1"/>
          <p:nvPr/>
        </p:nvSpPr>
        <p:spPr>
          <a:xfrm>
            <a:off x="6388554" y="651225"/>
            <a:ext cx="3598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Цветочный рынок России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10337843" y="497315"/>
            <a:ext cx="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" name="Google Shape;274;p27"/>
          <p:cNvCxnSpPr/>
          <p:nvPr/>
        </p:nvCxnSpPr>
        <p:spPr>
          <a:xfrm>
            <a:off x="11643868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5" name="Google Shape;275;p27"/>
          <p:cNvCxnSpPr/>
          <p:nvPr/>
        </p:nvCxnSpPr>
        <p:spPr>
          <a:xfrm>
            <a:off x="10277081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6" name="Google Shape;276;p27"/>
          <p:cNvSpPr txBox="1"/>
          <p:nvPr/>
        </p:nvSpPr>
        <p:spPr>
          <a:xfrm>
            <a:off x="-215075" y="1673563"/>
            <a:ext cx="6153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800" b="1">
                <a:solidFill>
                  <a:srgbClr val="0F2D69"/>
                </a:solidFill>
              </a:rPr>
              <a:t>Цветочный рынок России</a:t>
            </a:r>
            <a:endParaRPr sz="2800" b="1" i="0" u="none" strike="noStrike" cap="none">
              <a:solidFill>
                <a:srgbClr val="0F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750" y="333177"/>
            <a:ext cx="848600" cy="8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8075" y="1343075"/>
            <a:ext cx="4455248" cy="368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 txBox="1"/>
          <p:nvPr/>
        </p:nvSpPr>
        <p:spPr>
          <a:xfrm>
            <a:off x="417175" y="2442700"/>
            <a:ext cx="28815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>
                <a:solidFill>
                  <a:srgbClr val="088931"/>
                </a:solidFill>
              </a:rPr>
              <a:t>+25%</a:t>
            </a:r>
            <a:endParaRPr sz="4300">
              <a:solidFill>
                <a:srgbClr val="088931"/>
              </a:solidFill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508125" y="3332038"/>
            <a:ext cx="28815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>
                <a:solidFill>
                  <a:srgbClr val="088931"/>
                </a:solidFill>
              </a:rPr>
              <a:t>62% </a:t>
            </a:r>
            <a:endParaRPr sz="4300">
              <a:solidFill>
                <a:srgbClr val="088931"/>
              </a:solidFill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508125" y="4178650"/>
            <a:ext cx="28815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>
                <a:solidFill>
                  <a:srgbClr val="088931"/>
                </a:solidFill>
              </a:rPr>
              <a:t>4 660 ₽</a:t>
            </a:r>
            <a:endParaRPr sz="4300">
              <a:solidFill>
                <a:srgbClr val="088931"/>
              </a:solidFill>
            </a:endParaRPr>
          </a:p>
        </p:txBody>
      </p:sp>
      <p:sp>
        <p:nvSpPr>
          <p:cNvPr id="282" name="Google Shape;282;p27"/>
          <p:cNvSpPr txBox="1"/>
          <p:nvPr/>
        </p:nvSpPr>
        <p:spPr>
          <a:xfrm>
            <a:off x="1736225" y="2581150"/>
            <a:ext cx="436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рост онлайн-продаж в 2025 г.</a:t>
            </a:r>
            <a:endParaRPr sz="2000"/>
          </a:p>
        </p:txBody>
      </p:sp>
      <p:sp>
        <p:nvSpPr>
          <p:cNvPr id="283" name="Google Shape;283;p27"/>
          <p:cNvSpPr txBox="1"/>
          <p:nvPr/>
        </p:nvSpPr>
        <p:spPr>
          <a:xfrm>
            <a:off x="1550625" y="3509025"/>
            <a:ext cx="540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москвичей заказывают цветы онлайн</a:t>
            </a:r>
            <a:endParaRPr sz="2000"/>
          </a:p>
        </p:txBody>
      </p:sp>
      <p:sp>
        <p:nvSpPr>
          <p:cNvPr id="284" name="Google Shape;284;p27"/>
          <p:cNvSpPr txBox="1"/>
          <p:nvPr/>
        </p:nvSpPr>
        <p:spPr>
          <a:xfrm>
            <a:off x="2209700" y="4394213"/>
            <a:ext cx="436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средний чек онлайн, +11% г/г</a:t>
            </a:r>
            <a:endParaRPr sz="2000"/>
          </a:p>
        </p:txBody>
      </p:sp>
      <p:sp>
        <p:nvSpPr>
          <p:cNvPr id="285" name="Google Shape;285;p27"/>
          <p:cNvSpPr txBox="1"/>
          <p:nvPr/>
        </p:nvSpPr>
        <p:spPr>
          <a:xfrm>
            <a:off x="508125" y="5861525"/>
            <a:ext cx="3766500" cy="6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800" b="1">
                <a:solidFill>
                  <a:srgbClr val="0F2D69"/>
                </a:solidFill>
              </a:rPr>
              <a:t>Ключевые игроки: </a:t>
            </a:r>
            <a:endParaRPr sz="2800" b="1" i="0" u="none" strike="noStrike" cap="none">
              <a:solidFill>
                <a:srgbClr val="0F2D69"/>
              </a:solidFill>
            </a:endParaRPr>
          </a:p>
        </p:txBody>
      </p:sp>
      <p:pic>
        <p:nvPicPr>
          <p:cNvPr id="286" name="Google Shape;2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6622" y="5736894"/>
            <a:ext cx="848600" cy="848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99971" y="5796629"/>
            <a:ext cx="2177105" cy="84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1325" y="5796625"/>
            <a:ext cx="1870552" cy="729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/>
          <p:nvPr/>
        </p:nvSpPr>
        <p:spPr>
          <a:xfrm rot="10800000">
            <a:off x="299750" y="3487775"/>
            <a:ext cx="4705200" cy="28680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8893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28"/>
          <p:cNvCxnSpPr/>
          <p:nvPr/>
        </p:nvCxnSpPr>
        <p:spPr>
          <a:xfrm>
            <a:off x="329868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6" name="Google Shape;296;p28"/>
          <p:cNvCxnSpPr/>
          <p:nvPr/>
        </p:nvCxnSpPr>
        <p:spPr>
          <a:xfrm>
            <a:off x="609941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" name="Google Shape;297;p28"/>
          <p:cNvSpPr txBox="1"/>
          <p:nvPr/>
        </p:nvSpPr>
        <p:spPr>
          <a:xfrm>
            <a:off x="6158128" y="497325"/>
            <a:ext cx="344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b="1">
                <a:solidFill>
                  <a:srgbClr val="102D69"/>
                </a:solidFill>
              </a:rPr>
              <a:t>Сегменты и гипотезы </a:t>
            </a:r>
            <a:endParaRPr b="1" i="0" u="none" strike="noStrike" cap="none">
              <a:solidFill>
                <a:srgbClr val="102D69"/>
              </a:solidFill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10337843" y="497315"/>
            <a:ext cx="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28"/>
          <p:cNvCxnSpPr/>
          <p:nvPr/>
        </p:nvCxnSpPr>
        <p:spPr>
          <a:xfrm>
            <a:off x="11643868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0" name="Google Shape;300;p28"/>
          <p:cNvCxnSpPr/>
          <p:nvPr/>
        </p:nvCxnSpPr>
        <p:spPr>
          <a:xfrm>
            <a:off x="10277081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01" name="Google Shape;3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750" y="333177"/>
            <a:ext cx="848600" cy="8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8"/>
          <p:cNvSpPr txBox="1"/>
          <p:nvPr/>
        </p:nvSpPr>
        <p:spPr>
          <a:xfrm>
            <a:off x="216150" y="1187188"/>
            <a:ext cx="89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102D69"/>
              </a:solidFill>
            </a:endParaRPr>
          </a:p>
        </p:txBody>
      </p:sp>
      <p:sp>
        <p:nvSpPr>
          <p:cNvPr id="303" name="Google Shape;303;p28"/>
          <p:cNvSpPr txBox="1"/>
          <p:nvPr/>
        </p:nvSpPr>
        <p:spPr>
          <a:xfrm>
            <a:off x="299824" y="1330575"/>
            <a:ext cx="6802200" cy="833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088931"/>
                </a:solidFill>
              </a:rPr>
              <a:t>Сегмент 1</a:t>
            </a:r>
            <a:endParaRPr sz="2800">
              <a:solidFill>
                <a:srgbClr val="08893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0F2D69"/>
                </a:solidFill>
              </a:rPr>
              <a:t>Срочные заказчики</a:t>
            </a:r>
            <a:endParaRPr sz="2800" b="1">
              <a:solidFill>
                <a:srgbClr val="0F2D69"/>
              </a:solidFill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299825" y="2330525"/>
            <a:ext cx="4696200" cy="11571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8FAFD"/>
          </a:solidFill>
          <a:ln w="9525" cap="flat" cmpd="sng">
            <a:solidFill>
              <a:srgbClr val="00C7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Срочные заказчики</a:t>
            </a:r>
            <a:endParaRPr sz="2500" b="1">
              <a:solidFill>
                <a:srgbClr val="0889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404800" y="3545075"/>
            <a:ext cx="4435200" cy="25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Заказывают цветы в последний момент - день рождения сегодня, внезапное поздравление. Главный страх - не успеть или случайно раскрыть сюрприз.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5303675" y="2882725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Широкий интервал доставки, страх не попасть в нужный момент</a:t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5303550" y="415050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Нет трекинга курьера, пользователь не знает, когда ждать</a:t>
            </a: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5303550" y="538935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Сервис не берет ответственность при опоздании, нет доверия</a:t>
            </a:r>
            <a:endParaRPr/>
          </a:p>
        </p:txBody>
      </p:sp>
      <p:cxnSp>
        <p:nvCxnSpPr>
          <p:cNvPr id="309" name="Google Shape;309;p28"/>
          <p:cNvCxnSpPr/>
          <p:nvPr/>
        </p:nvCxnSpPr>
        <p:spPr>
          <a:xfrm>
            <a:off x="8039550" y="3424950"/>
            <a:ext cx="7752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0" name="Google Shape;310;p28"/>
          <p:cNvCxnSpPr/>
          <p:nvPr/>
        </p:nvCxnSpPr>
        <p:spPr>
          <a:xfrm>
            <a:off x="8039550" y="4663800"/>
            <a:ext cx="7752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1" name="Google Shape;311;p28"/>
          <p:cNvCxnSpPr/>
          <p:nvPr/>
        </p:nvCxnSpPr>
        <p:spPr>
          <a:xfrm>
            <a:off x="8039550" y="5902650"/>
            <a:ext cx="7752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28"/>
          <p:cNvSpPr/>
          <p:nvPr/>
        </p:nvSpPr>
        <p:spPr>
          <a:xfrm>
            <a:off x="8814750" y="2882725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Узкие интервалы 30 мин + платная гарантированная доставка</a:t>
            </a:r>
            <a:endParaRPr/>
          </a:p>
        </p:txBody>
      </p:sp>
      <p:sp>
        <p:nvSpPr>
          <p:cNvPr id="313" name="Google Shape;313;p28"/>
          <p:cNvSpPr/>
          <p:nvPr/>
        </p:nvSpPr>
        <p:spPr>
          <a:xfrm>
            <a:off x="8814750" y="415050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Push-уведомления и карта курьера в реальном времени</a:t>
            </a:r>
            <a:endParaRPr/>
          </a:p>
        </p:txBody>
      </p:sp>
      <p:sp>
        <p:nvSpPr>
          <p:cNvPr id="314" name="Google Shape;314;p28"/>
          <p:cNvSpPr/>
          <p:nvPr/>
        </p:nvSpPr>
        <p:spPr>
          <a:xfrm>
            <a:off x="8814750" y="5418275"/>
            <a:ext cx="2736000" cy="10059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Явная компенсация при срыве - снижает барьер для заказа</a:t>
            </a:r>
            <a:endParaRPr/>
          </a:p>
        </p:txBody>
      </p:sp>
      <p:sp>
        <p:nvSpPr>
          <p:cNvPr id="315" name="Google Shape;315;p28"/>
          <p:cNvSpPr/>
          <p:nvPr/>
        </p:nvSpPr>
        <p:spPr>
          <a:xfrm>
            <a:off x="5303550" y="2244725"/>
            <a:ext cx="2769900" cy="586200"/>
          </a:xfrm>
          <a:prstGeom prst="roundRect">
            <a:avLst>
              <a:gd name="adj" fmla="val 16667"/>
            </a:avLst>
          </a:prstGeom>
          <a:solidFill>
            <a:srgbClr val="08893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000" b="1">
                <a:solidFill>
                  <a:schemeClr val="lt1"/>
                </a:solidFill>
              </a:rPr>
              <a:t>Гипотеза проблемы</a:t>
            </a:r>
            <a:endParaRPr sz="2000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8814750" y="2230900"/>
            <a:ext cx="2736000" cy="586200"/>
          </a:xfrm>
          <a:prstGeom prst="roundRect">
            <a:avLst>
              <a:gd name="adj" fmla="val 16667"/>
            </a:avLst>
          </a:prstGeom>
          <a:solidFill>
            <a:srgbClr val="08893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000" b="1">
                <a:solidFill>
                  <a:schemeClr val="lt1"/>
                </a:solidFill>
              </a:rPr>
              <a:t>Гипотеза решения</a:t>
            </a:r>
            <a:endParaRPr sz="2000" b="1" i="0" u="none" strike="noStrike" cap="non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/>
          <p:nvPr/>
        </p:nvSpPr>
        <p:spPr>
          <a:xfrm rot="10800000">
            <a:off x="299750" y="3487775"/>
            <a:ext cx="4705200" cy="28680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8893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29"/>
          <p:cNvCxnSpPr/>
          <p:nvPr/>
        </p:nvCxnSpPr>
        <p:spPr>
          <a:xfrm>
            <a:off x="329868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4" name="Google Shape;324;p29"/>
          <p:cNvCxnSpPr/>
          <p:nvPr/>
        </p:nvCxnSpPr>
        <p:spPr>
          <a:xfrm>
            <a:off x="609941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5" name="Google Shape;325;p29"/>
          <p:cNvSpPr txBox="1"/>
          <p:nvPr/>
        </p:nvSpPr>
        <p:spPr>
          <a:xfrm>
            <a:off x="6158128" y="497325"/>
            <a:ext cx="344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b="1">
                <a:solidFill>
                  <a:srgbClr val="102D69"/>
                </a:solidFill>
              </a:rPr>
              <a:t>Сегменты и гипотезы </a:t>
            </a:r>
            <a:endParaRPr b="1" i="0" u="none" strike="noStrike" cap="none">
              <a:solidFill>
                <a:srgbClr val="102D69"/>
              </a:solidFill>
            </a:endParaRPr>
          </a:p>
        </p:txBody>
      </p:sp>
      <p:sp>
        <p:nvSpPr>
          <p:cNvPr id="326" name="Google Shape;326;p29"/>
          <p:cNvSpPr txBox="1"/>
          <p:nvPr/>
        </p:nvSpPr>
        <p:spPr>
          <a:xfrm>
            <a:off x="10337843" y="497315"/>
            <a:ext cx="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29"/>
          <p:cNvCxnSpPr/>
          <p:nvPr/>
        </p:nvCxnSpPr>
        <p:spPr>
          <a:xfrm>
            <a:off x="11643868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8" name="Google Shape;328;p29"/>
          <p:cNvCxnSpPr/>
          <p:nvPr/>
        </p:nvCxnSpPr>
        <p:spPr>
          <a:xfrm>
            <a:off x="10277081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29" name="Google Shape;3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750" y="333177"/>
            <a:ext cx="848600" cy="8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9"/>
          <p:cNvSpPr txBox="1"/>
          <p:nvPr/>
        </p:nvSpPr>
        <p:spPr>
          <a:xfrm>
            <a:off x="216150" y="1187188"/>
            <a:ext cx="89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102D69"/>
              </a:solidFill>
            </a:endParaRPr>
          </a:p>
        </p:txBody>
      </p:sp>
      <p:sp>
        <p:nvSpPr>
          <p:cNvPr id="331" name="Google Shape;331;p29"/>
          <p:cNvSpPr txBox="1"/>
          <p:nvPr/>
        </p:nvSpPr>
        <p:spPr>
          <a:xfrm>
            <a:off x="299824" y="1330575"/>
            <a:ext cx="6802200" cy="833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088931"/>
                </a:solidFill>
              </a:rPr>
              <a:t>Сегмент 2</a:t>
            </a:r>
            <a:endParaRPr sz="2800">
              <a:solidFill>
                <a:srgbClr val="08893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102D69"/>
                </a:solidFill>
              </a:rPr>
              <a:t>Удаленные отправители</a:t>
            </a:r>
            <a:endParaRPr sz="2800" b="1">
              <a:solidFill>
                <a:srgbClr val="102D69"/>
              </a:solidFill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299825" y="2330525"/>
            <a:ext cx="4696200" cy="11571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8FAFD"/>
          </a:solidFill>
          <a:ln w="9525" cap="flat" cmpd="sng">
            <a:solidFill>
              <a:srgbClr val="00C7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Удаленные отправители</a:t>
            </a:r>
            <a:endParaRPr sz="2500" b="1">
              <a:solidFill>
                <a:srgbClr val="0889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 txBox="1"/>
          <p:nvPr/>
        </p:nvSpPr>
        <p:spPr>
          <a:xfrm>
            <a:off x="404800" y="3545075"/>
            <a:ext cx="4435200" cy="25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Пользователи которые зачастую заказывают подарок из другого города или страны, не видя букет вживую. Их ключевая потребность видеть что букет соответствует их ожиданиям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5303550" y="291165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На фото непонятен реальный размер/ покупка кота в мешке</a:t>
            </a:r>
            <a:endParaRPr/>
          </a:p>
        </p:txBody>
      </p:sp>
      <p:sp>
        <p:nvSpPr>
          <p:cNvPr id="335" name="Google Shape;335;p29"/>
          <p:cNvSpPr/>
          <p:nvPr/>
        </p:nvSpPr>
        <p:spPr>
          <a:xfrm>
            <a:off x="5303550" y="415050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Карточка товара не дает понять состав и объем при изменениях</a:t>
            </a:r>
            <a:endParaRPr/>
          </a:p>
        </p:txBody>
      </p:sp>
      <p:sp>
        <p:nvSpPr>
          <p:cNvPr id="336" name="Google Shape;336;p29"/>
          <p:cNvSpPr/>
          <p:nvPr/>
        </p:nvSpPr>
        <p:spPr>
          <a:xfrm>
            <a:off x="5303550" y="538935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Единственный источник информации это отзывы</a:t>
            </a:r>
            <a:endParaRPr/>
          </a:p>
        </p:txBody>
      </p:sp>
      <p:cxnSp>
        <p:nvCxnSpPr>
          <p:cNvPr id="337" name="Google Shape;337;p29"/>
          <p:cNvCxnSpPr/>
          <p:nvPr/>
        </p:nvCxnSpPr>
        <p:spPr>
          <a:xfrm>
            <a:off x="8039550" y="3424950"/>
            <a:ext cx="7752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" name="Google Shape;338;p29"/>
          <p:cNvCxnSpPr/>
          <p:nvPr/>
        </p:nvCxnSpPr>
        <p:spPr>
          <a:xfrm>
            <a:off x="8039550" y="4663800"/>
            <a:ext cx="7752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9" name="Google Shape;339;p29"/>
          <p:cNvCxnSpPr/>
          <p:nvPr/>
        </p:nvCxnSpPr>
        <p:spPr>
          <a:xfrm>
            <a:off x="8039550" y="5902650"/>
            <a:ext cx="7752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29"/>
          <p:cNvSpPr/>
          <p:nvPr/>
        </p:nvSpPr>
        <p:spPr>
          <a:xfrm>
            <a:off x="8814750" y="2882725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Фильтр по диаметру/фото в масшатбе рядом с человеком</a:t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>
            <a:off x="8814750" y="415050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Визуализация букета при изменении состава или объема</a:t>
            </a:r>
            <a:endParaRPr/>
          </a:p>
        </p:txBody>
      </p:sp>
      <p:sp>
        <p:nvSpPr>
          <p:cNvPr id="342" name="Google Shape;342;p29"/>
          <p:cNvSpPr/>
          <p:nvPr/>
        </p:nvSpPr>
        <p:spPr>
          <a:xfrm>
            <a:off x="8814750" y="5418275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Улучшение отзывов с добавлением фотографий/улучшение карточки товара</a:t>
            </a:r>
            <a:endParaRPr/>
          </a:p>
        </p:txBody>
      </p:sp>
      <p:sp>
        <p:nvSpPr>
          <p:cNvPr id="343" name="Google Shape;343;p29"/>
          <p:cNvSpPr/>
          <p:nvPr/>
        </p:nvSpPr>
        <p:spPr>
          <a:xfrm>
            <a:off x="5303550" y="2244725"/>
            <a:ext cx="2769900" cy="586200"/>
          </a:xfrm>
          <a:prstGeom prst="roundRect">
            <a:avLst>
              <a:gd name="adj" fmla="val 16667"/>
            </a:avLst>
          </a:prstGeom>
          <a:solidFill>
            <a:srgbClr val="08893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000" b="1">
                <a:solidFill>
                  <a:schemeClr val="lt1"/>
                </a:solidFill>
              </a:rPr>
              <a:t>Гипотеза проблемы</a:t>
            </a:r>
            <a:endParaRPr sz="2000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344" name="Google Shape;344;p29"/>
          <p:cNvSpPr/>
          <p:nvPr/>
        </p:nvSpPr>
        <p:spPr>
          <a:xfrm>
            <a:off x="8848500" y="2230900"/>
            <a:ext cx="2668500" cy="586200"/>
          </a:xfrm>
          <a:prstGeom prst="roundRect">
            <a:avLst>
              <a:gd name="adj" fmla="val 16667"/>
            </a:avLst>
          </a:prstGeom>
          <a:solidFill>
            <a:srgbClr val="08893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000" b="1">
                <a:solidFill>
                  <a:schemeClr val="lt1"/>
                </a:solidFill>
              </a:rPr>
              <a:t>Гипотеза решения</a:t>
            </a:r>
            <a:endParaRPr sz="2000" b="1" i="0" u="none" strike="noStrike" cap="non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/>
          <p:nvPr/>
        </p:nvSpPr>
        <p:spPr>
          <a:xfrm rot="10800000">
            <a:off x="299750" y="3487775"/>
            <a:ext cx="4705200" cy="28680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8893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30"/>
          <p:cNvCxnSpPr/>
          <p:nvPr/>
        </p:nvCxnSpPr>
        <p:spPr>
          <a:xfrm>
            <a:off x="329868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2" name="Google Shape;352;p30"/>
          <p:cNvCxnSpPr/>
          <p:nvPr/>
        </p:nvCxnSpPr>
        <p:spPr>
          <a:xfrm>
            <a:off x="609941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3" name="Google Shape;353;p30"/>
          <p:cNvSpPr txBox="1"/>
          <p:nvPr/>
        </p:nvSpPr>
        <p:spPr>
          <a:xfrm>
            <a:off x="6158128" y="497325"/>
            <a:ext cx="344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b="1">
                <a:solidFill>
                  <a:srgbClr val="102D69"/>
                </a:solidFill>
              </a:rPr>
              <a:t>Сегменты и гипотезы </a:t>
            </a:r>
            <a:endParaRPr b="1" i="0" u="none" strike="noStrike" cap="none">
              <a:solidFill>
                <a:srgbClr val="102D69"/>
              </a:solidFill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10337843" y="497315"/>
            <a:ext cx="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30"/>
          <p:cNvCxnSpPr/>
          <p:nvPr/>
        </p:nvCxnSpPr>
        <p:spPr>
          <a:xfrm>
            <a:off x="11643868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" name="Google Shape;356;p30"/>
          <p:cNvCxnSpPr/>
          <p:nvPr/>
        </p:nvCxnSpPr>
        <p:spPr>
          <a:xfrm>
            <a:off x="10277081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57" name="Google Shape;3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750" y="333177"/>
            <a:ext cx="848600" cy="8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0"/>
          <p:cNvSpPr txBox="1"/>
          <p:nvPr/>
        </p:nvSpPr>
        <p:spPr>
          <a:xfrm>
            <a:off x="216150" y="1187188"/>
            <a:ext cx="89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102D69"/>
              </a:solidFill>
            </a:endParaRPr>
          </a:p>
        </p:txBody>
      </p:sp>
      <p:sp>
        <p:nvSpPr>
          <p:cNvPr id="359" name="Google Shape;359;p30"/>
          <p:cNvSpPr txBox="1"/>
          <p:nvPr/>
        </p:nvSpPr>
        <p:spPr>
          <a:xfrm>
            <a:off x="299824" y="1330575"/>
            <a:ext cx="6802200" cy="833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088931"/>
                </a:solidFill>
              </a:rPr>
              <a:t>Сегмент 3</a:t>
            </a:r>
            <a:endParaRPr sz="2800">
              <a:solidFill>
                <a:srgbClr val="08893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102D69"/>
                </a:solidFill>
              </a:rPr>
              <a:t>B2B-сегмент</a:t>
            </a:r>
            <a:endParaRPr sz="2800" b="1">
              <a:solidFill>
                <a:srgbClr val="102D69"/>
              </a:solidFill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299825" y="2330525"/>
            <a:ext cx="4696200" cy="11571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8FAFD"/>
          </a:solidFill>
          <a:ln w="9525" cap="flat" cmpd="sng">
            <a:solidFill>
              <a:srgbClr val="00C7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B2B сегмент</a:t>
            </a:r>
            <a:endParaRPr sz="2500" b="1">
              <a:solidFill>
                <a:srgbClr val="0889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0"/>
          <p:cNvSpPr txBox="1"/>
          <p:nvPr/>
        </p:nvSpPr>
        <p:spPr>
          <a:xfrm>
            <a:off x="404800" y="3545075"/>
            <a:ext cx="4591200" cy="25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Ассистенты и офис-менеджеры оформляют подарки сразу на большое количество адресов.</a:t>
            </a:r>
            <a:br>
              <a:rPr lang="en-GB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Боль данной когорты клиентов не в выборе букета, а в сложности оформления заказа.</a:t>
            </a:r>
            <a:endParaRPr sz="2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5303550" y="291165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Нет оформления массового заказа</a:t>
            </a:r>
            <a:endParaRPr/>
          </a:p>
        </p:txBody>
      </p:sp>
      <p:sp>
        <p:nvSpPr>
          <p:cNvPr id="363" name="Google Shape;363;p30"/>
          <p:cNvSpPr/>
          <p:nvPr/>
        </p:nvSpPr>
        <p:spPr>
          <a:xfrm>
            <a:off x="5303550" y="415050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Нет B2B инструментов, например, н.п скидок от объема заказа</a:t>
            </a:r>
            <a:endParaRPr sz="1300"/>
          </a:p>
        </p:txBody>
      </p:sp>
      <p:sp>
        <p:nvSpPr>
          <p:cNvPr id="364" name="Google Shape;364;p30"/>
          <p:cNvSpPr/>
          <p:nvPr/>
        </p:nvSpPr>
        <p:spPr>
          <a:xfrm>
            <a:off x="5303550" y="538935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Нет единого контроля статуса всех заказов </a:t>
            </a:r>
            <a:endParaRPr/>
          </a:p>
        </p:txBody>
      </p:sp>
      <p:cxnSp>
        <p:nvCxnSpPr>
          <p:cNvPr id="365" name="Google Shape;365;p30"/>
          <p:cNvCxnSpPr/>
          <p:nvPr/>
        </p:nvCxnSpPr>
        <p:spPr>
          <a:xfrm>
            <a:off x="8039550" y="3424950"/>
            <a:ext cx="7752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6" name="Google Shape;366;p30"/>
          <p:cNvCxnSpPr/>
          <p:nvPr/>
        </p:nvCxnSpPr>
        <p:spPr>
          <a:xfrm>
            <a:off x="8039550" y="4663800"/>
            <a:ext cx="7752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30"/>
          <p:cNvCxnSpPr/>
          <p:nvPr/>
        </p:nvCxnSpPr>
        <p:spPr>
          <a:xfrm>
            <a:off x="8039550" y="5902650"/>
            <a:ext cx="7752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8" name="Google Shape;368;p30"/>
          <p:cNvSpPr/>
          <p:nvPr/>
        </p:nvSpPr>
        <p:spPr>
          <a:xfrm>
            <a:off x="8814750" y="2882725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Мульти корзина на большое количество адресов с одной оплатой</a:t>
            </a:r>
            <a:endParaRPr/>
          </a:p>
        </p:txBody>
      </p:sp>
      <p:sp>
        <p:nvSpPr>
          <p:cNvPr id="369" name="Google Shape;369;p30"/>
          <p:cNvSpPr/>
          <p:nvPr/>
        </p:nvSpPr>
        <p:spPr>
          <a:xfrm>
            <a:off x="8814750" y="4150500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Автогенерация КП и счетов без участия менеджера </a:t>
            </a:r>
            <a:endParaRPr/>
          </a:p>
        </p:txBody>
      </p:sp>
      <p:sp>
        <p:nvSpPr>
          <p:cNvPr id="370" name="Google Shape;370;p30"/>
          <p:cNvSpPr/>
          <p:nvPr/>
        </p:nvSpPr>
        <p:spPr>
          <a:xfrm>
            <a:off x="8814750" y="5418275"/>
            <a:ext cx="2736000" cy="10347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rgbClr val="08893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Единая страница трекинга всех доставок по заказу</a:t>
            </a:r>
            <a:endParaRPr/>
          </a:p>
        </p:txBody>
      </p:sp>
      <p:sp>
        <p:nvSpPr>
          <p:cNvPr id="371" name="Google Shape;371;p30"/>
          <p:cNvSpPr/>
          <p:nvPr/>
        </p:nvSpPr>
        <p:spPr>
          <a:xfrm>
            <a:off x="5303550" y="2244725"/>
            <a:ext cx="2769900" cy="586200"/>
          </a:xfrm>
          <a:prstGeom prst="roundRect">
            <a:avLst>
              <a:gd name="adj" fmla="val 16667"/>
            </a:avLst>
          </a:prstGeom>
          <a:solidFill>
            <a:srgbClr val="08893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000" b="1">
                <a:solidFill>
                  <a:schemeClr val="lt1"/>
                </a:solidFill>
              </a:rPr>
              <a:t>Гипотеза проблемы</a:t>
            </a:r>
            <a:endParaRPr sz="2000" b="1" i="0" u="none" strike="noStrike" cap="none">
              <a:solidFill>
                <a:schemeClr val="lt1"/>
              </a:solidFill>
            </a:endParaRPr>
          </a:p>
        </p:txBody>
      </p:sp>
      <p:sp>
        <p:nvSpPr>
          <p:cNvPr id="372" name="Google Shape;372;p30"/>
          <p:cNvSpPr/>
          <p:nvPr/>
        </p:nvSpPr>
        <p:spPr>
          <a:xfrm>
            <a:off x="8848500" y="2230900"/>
            <a:ext cx="2668500" cy="586200"/>
          </a:xfrm>
          <a:prstGeom prst="roundRect">
            <a:avLst>
              <a:gd name="adj" fmla="val 16667"/>
            </a:avLst>
          </a:prstGeom>
          <a:solidFill>
            <a:srgbClr val="08893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000" b="1">
                <a:solidFill>
                  <a:schemeClr val="lt1"/>
                </a:solidFill>
              </a:rPr>
              <a:t>Гипотеза решения</a:t>
            </a:r>
            <a:endParaRPr sz="2000" b="1" i="0" u="none" strike="noStrike" cap="non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"/>
          <p:cNvSpPr/>
          <p:nvPr/>
        </p:nvSpPr>
        <p:spPr>
          <a:xfrm>
            <a:off x="249350" y="5526100"/>
            <a:ext cx="5493600" cy="833400"/>
          </a:xfrm>
          <a:prstGeom prst="roundRect">
            <a:avLst>
              <a:gd name="adj" fmla="val 16667"/>
            </a:avLst>
          </a:prstGeom>
          <a:solidFill>
            <a:srgbClr val="08893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1" i="0" u="none" strike="noStrike" cap="none">
              <a:solidFill>
                <a:srgbClr val="000000"/>
              </a:solidFill>
            </a:endParaRPr>
          </a:p>
        </p:txBody>
      </p:sp>
      <p:cxnSp>
        <p:nvCxnSpPr>
          <p:cNvPr id="379" name="Google Shape;379;p3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0" name="Google Shape;380;p3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1" name="Google Shape;381;p31"/>
          <p:cNvSpPr txBox="1"/>
          <p:nvPr/>
        </p:nvSpPr>
        <p:spPr>
          <a:xfrm>
            <a:off x="6158118" y="497315"/>
            <a:ext cx="2346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Гипотезы 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" name="Google Shape;383;p3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4" name="Google Shape;384;p3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5" name="Google Shape;385;p31"/>
          <p:cNvSpPr txBox="1"/>
          <p:nvPr/>
        </p:nvSpPr>
        <p:spPr>
          <a:xfrm>
            <a:off x="198875" y="1433725"/>
            <a:ext cx="89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>
                <a:solidFill>
                  <a:srgbClr val="102D69"/>
                </a:solidFill>
              </a:rPr>
              <a:t>Подход к интервью и подтвержденные гипотезы </a:t>
            </a:r>
            <a:endParaRPr sz="2400" b="1" i="0" u="none" strike="noStrike" cap="none">
              <a:solidFill>
                <a:srgbClr val="102D69"/>
              </a:solidFill>
            </a:endParaRPr>
          </a:p>
        </p:txBody>
      </p:sp>
      <p:pic>
        <p:nvPicPr>
          <p:cNvPr id="386" name="Google Shape;3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925" y="333177"/>
            <a:ext cx="848600" cy="8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1"/>
          <p:cNvSpPr/>
          <p:nvPr/>
        </p:nvSpPr>
        <p:spPr>
          <a:xfrm>
            <a:off x="7233850" y="2955200"/>
            <a:ext cx="4665900" cy="83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Недостаточный набор фильтров и непрозрачная карточка товара</a:t>
            </a:r>
            <a:endParaRPr sz="20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7233850" y="3914850"/>
            <a:ext cx="4782900" cy="83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Отсутствие работы с B2B сегментом</a:t>
            </a:r>
            <a:endParaRPr sz="20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89" name="Google Shape;389;p31"/>
          <p:cNvSpPr/>
          <p:nvPr/>
        </p:nvSpPr>
        <p:spPr>
          <a:xfrm>
            <a:off x="7233850" y="4754350"/>
            <a:ext cx="4782900" cy="833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000">
                <a:solidFill>
                  <a:schemeClr val="dk1"/>
                </a:solidFill>
              </a:rPr>
              <a:t>Неудобные интервалы доставки</a:t>
            </a:r>
            <a:endParaRPr sz="20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90" name="Google Shape;390;p31"/>
          <p:cNvSpPr txBox="1"/>
          <p:nvPr/>
        </p:nvSpPr>
        <p:spPr>
          <a:xfrm>
            <a:off x="249350" y="5688850"/>
            <a:ext cx="5493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>
                <a:solidFill>
                  <a:schemeClr val="lt1"/>
                </a:solidFill>
              </a:rPr>
              <a:t>18 интервью · 3 сегмента · 6 на каждый</a:t>
            </a:r>
            <a:endParaRPr sz="2100" b="1">
              <a:solidFill>
                <a:schemeClr val="lt1"/>
              </a:solidFill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6756325" y="2213338"/>
            <a:ext cx="5245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800" b="1">
                <a:solidFill>
                  <a:srgbClr val="102D69"/>
                </a:solidFill>
              </a:rPr>
              <a:t>Подтвержденные гипотезы</a:t>
            </a:r>
            <a:endParaRPr sz="2300" b="1">
              <a:solidFill>
                <a:srgbClr val="102D69"/>
              </a:solidFill>
            </a:endParaRPr>
          </a:p>
        </p:txBody>
      </p:sp>
      <p:sp>
        <p:nvSpPr>
          <p:cNvPr id="392" name="Google Shape;392;p31"/>
          <p:cNvSpPr txBox="1"/>
          <p:nvPr/>
        </p:nvSpPr>
        <p:spPr>
          <a:xfrm>
            <a:off x="791588" y="2910250"/>
            <a:ext cx="440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88931"/>
                </a:solidFill>
              </a:rPr>
              <a:t>Что было важно в тот момент?</a:t>
            </a:r>
            <a:endParaRPr sz="2000" b="1">
              <a:solidFill>
                <a:srgbClr val="088931"/>
              </a:solidFill>
            </a:endParaRPr>
          </a:p>
        </p:txBody>
      </p:sp>
      <p:sp>
        <p:nvSpPr>
          <p:cNvPr id="393" name="Google Shape;393;p31"/>
          <p:cNvSpPr txBox="1"/>
          <p:nvPr/>
        </p:nvSpPr>
        <p:spPr>
          <a:xfrm rot="5400000">
            <a:off x="2277338" y="3379125"/>
            <a:ext cx="63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102D69"/>
                </a:solidFill>
                <a:latin typeface="Impact"/>
                <a:ea typeface="Impact"/>
                <a:cs typeface="Impact"/>
                <a:sym typeface="Impact"/>
              </a:rPr>
              <a:t>→</a:t>
            </a:r>
            <a:endParaRPr sz="2800" b="1">
              <a:solidFill>
                <a:srgbClr val="102D69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94" name="Google Shape;394;p31"/>
          <p:cNvSpPr txBox="1"/>
          <p:nvPr/>
        </p:nvSpPr>
        <p:spPr>
          <a:xfrm>
            <a:off x="1345320" y="3855825"/>
            <a:ext cx="2580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88931"/>
                </a:solidFill>
              </a:rPr>
              <a:t>Что пошло не так?</a:t>
            </a:r>
            <a:endParaRPr sz="2000" b="1">
              <a:solidFill>
                <a:srgbClr val="088931"/>
              </a:solidFill>
            </a:endParaRPr>
          </a:p>
        </p:txBody>
      </p:sp>
      <p:sp>
        <p:nvSpPr>
          <p:cNvPr id="395" name="Google Shape;395;p31"/>
          <p:cNvSpPr txBox="1"/>
          <p:nvPr/>
        </p:nvSpPr>
        <p:spPr>
          <a:xfrm rot="5400000">
            <a:off x="2277338" y="4328150"/>
            <a:ext cx="639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>
                <a:solidFill>
                  <a:srgbClr val="102D69"/>
                </a:solidFill>
                <a:latin typeface="Impact"/>
                <a:ea typeface="Impact"/>
                <a:cs typeface="Impact"/>
                <a:sym typeface="Impact"/>
              </a:rPr>
              <a:t>→</a:t>
            </a:r>
            <a:endParaRPr sz="2800" b="1">
              <a:solidFill>
                <a:srgbClr val="102D69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96" name="Google Shape;396;p31"/>
          <p:cNvSpPr txBox="1"/>
          <p:nvPr/>
        </p:nvSpPr>
        <p:spPr>
          <a:xfrm>
            <a:off x="726463" y="4801363"/>
            <a:ext cx="440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88931"/>
                </a:solidFill>
              </a:rPr>
              <a:t>Чем это закончилось для тебя?</a:t>
            </a:r>
            <a:endParaRPr sz="2000" b="1">
              <a:solidFill>
                <a:srgbClr val="088931"/>
              </a:solidFill>
            </a:endParaRPr>
          </a:p>
        </p:txBody>
      </p:sp>
      <p:sp>
        <p:nvSpPr>
          <p:cNvPr id="397" name="Google Shape;397;p31"/>
          <p:cNvSpPr txBox="1"/>
          <p:nvPr/>
        </p:nvSpPr>
        <p:spPr>
          <a:xfrm>
            <a:off x="6756325" y="2956250"/>
            <a:ext cx="385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rgbClr val="088931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3600"/>
          </a:p>
        </p:txBody>
      </p:sp>
      <p:sp>
        <p:nvSpPr>
          <p:cNvPr id="398" name="Google Shape;398;p31"/>
          <p:cNvSpPr txBox="1"/>
          <p:nvPr/>
        </p:nvSpPr>
        <p:spPr>
          <a:xfrm>
            <a:off x="6756325" y="3855825"/>
            <a:ext cx="385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>
                <a:solidFill>
                  <a:srgbClr val="08893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3600"/>
          </a:p>
        </p:txBody>
      </p:sp>
      <p:sp>
        <p:nvSpPr>
          <p:cNvPr id="399" name="Google Shape;399;p31"/>
          <p:cNvSpPr txBox="1"/>
          <p:nvPr/>
        </p:nvSpPr>
        <p:spPr>
          <a:xfrm>
            <a:off x="6756325" y="4755400"/>
            <a:ext cx="385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 b="1">
                <a:solidFill>
                  <a:srgbClr val="088931"/>
                </a:solidFill>
              </a:rPr>
              <a:t>3</a:t>
            </a:r>
            <a:endParaRPr sz="3600" b="1"/>
          </a:p>
        </p:txBody>
      </p:sp>
      <p:sp>
        <p:nvSpPr>
          <p:cNvPr id="400" name="Google Shape;400;p31"/>
          <p:cNvSpPr txBox="1"/>
          <p:nvPr/>
        </p:nvSpPr>
        <p:spPr>
          <a:xfrm>
            <a:off x="6756325" y="5714000"/>
            <a:ext cx="38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01" name="Google Shape;401;p31"/>
          <p:cNvSpPr/>
          <p:nvPr/>
        </p:nvSpPr>
        <p:spPr>
          <a:xfrm>
            <a:off x="249350" y="1986275"/>
            <a:ext cx="5493600" cy="586200"/>
          </a:xfrm>
          <a:prstGeom prst="roundRect">
            <a:avLst>
              <a:gd name="adj" fmla="val 16667"/>
            </a:avLst>
          </a:prstGeom>
          <a:solidFill>
            <a:srgbClr val="08893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 b="1">
                <a:solidFill>
                  <a:srgbClr val="F8FAFC"/>
                </a:solidFill>
              </a:rPr>
              <a:t>Метод: реальный последний кейс</a:t>
            </a:r>
            <a:endParaRPr sz="2000" b="1" i="0" u="none" strike="noStrike" cap="none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7" name="Google Shape;407;p32"/>
          <p:cNvCxnSpPr/>
          <p:nvPr/>
        </p:nvCxnSpPr>
        <p:spPr>
          <a:xfrm>
            <a:off x="329868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8" name="Google Shape;408;p32"/>
          <p:cNvCxnSpPr/>
          <p:nvPr/>
        </p:nvCxnSpPr>
        <p:spPr>
          <a:xfrm>
            <a:off x="609941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9" name="Google Shape;409;p32"/>
          <p:cNvSpPr txBox="1"/>
          <p:nvPr/>
        </p:nvSpPr>
        <p:spPr>
          <a:xfrm>
            <a:off x="6158118" y="497315"/>
            <a:ext cx="2346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Прототип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2"/>
          <p:cNvSpPr txBox="1"/>
          <p:nvPr/>
        </p:nvSpPr>
        <p:spPr>
          <a:xfrm>
            <a:off x="10337843" y="497315"/>
            <a:ext cx="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32"/>
          <p:cNvCxnSpPr/>
          <p:nvPr/>
        </p:nvCxnSpPr>
        <p:spPr>
          <a:xfrm>
            <a:off x="11643868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12" name="Google Shape;412;p32"/>
          <p:cNvCxnSpPr/>
          <p:nvPr/>
        </p:nvCxnSpPr>
        <p:spPr>
          <a:xfrm>
            <a:off x="10277081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3" name="Google Shape;413;p32"/>
          <p:cNvSpPr txBox="1"/>
          <p:nvPr/>
        </p:nvSpPr>
        <p:spPr>
          <a:xfrm>
            <a:off x="198875" y="1433725"/>
            <a:ext cx="89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800" b="1">
                <a:solidFill>
                  <a:srgbClr val="102D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Прототип: Как было до изменений</a:t>
            </a:r>
            <a:endParaRPr sz="2400" b="1" i="0" u="none" strike="noStrike" cap="none">
              <a:solidFill>
                <a:srgbClr val="102D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4" name="Google Shape;4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925" y="333177"/>
            <a:ext cx="848600" cy="8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2"/>
          <p:cNvPicPr preferRelativeResize="0"/>
          <p:nvPr/>
        </p:nvPicPr>
        <p:blipFill rotWithShape="1">
          <a:blip r:embed="rId4">
            <a:alphaModFix/>
          </a:blip>
          <a:srcRect t="4898"/>
          <a:stretch/>
        </p:blipFill>
        <p:spPr>
          <a:xfrm>
            <a:off x="706975" y="2186675"/>
            <a:ext cx="2160551" cy="445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2"/>
          <p:cNvPicPr preferRelativeResize="0"/>
          <p:nvPr/>
        </p:nvPicPr>
        <p:blipFill rotWithShape="1">
          <a:blip r:embed="rId5">
            <a:alphaModFix/>
          </a:blip>
          <a:srcRect t="4898"/>
          <a:stretch/>
        </p:blipFill>
        <p:spPr>
          <a:xfrm>
            <a:off x="4774525" y="2208875"/>
            <a:ext cx="2160551" cy="445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2"/>
          <p:cNvPicPr preferRelativeResize="0"/>
          <p:nvPr/>
        </p:nvPicPr>
        <p:blipFill rotWithShape="1">
          <a:blip r:embed="rId6">
            <a:alphaModFix/>
          </a:blip>
          <a:srcRect t="5696"/>
          <a:stretch/>
        </p:blipFill>
        <p:spPr>
          <a:xfrm>
            <a:off x="8504725" y="2186675"/>
            <a:ext cx="2346600" cy="445752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2"/>
          <p:cNvSpPr/>
          <p:nvPr/>
        </p:nvSpPr>
        <p:spPr>
          <a:xfrm>
            <a:off x="7094050" y="1495225"/>
            <a:ext cx="4848900" cy="400200"/>
          </a:xfrm>
          <a:prstGeom prst="roundRect">
            <a:avLst>
              <a:gd name="adj" fmla="val 16667"/>
            </a:avLst>
          </a:prstGeom>
          <a:solidFill>
            <a:srgbClr val="08893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>
                <a:solidFill>
                  <a:srgbClr val="F8FAFC"/>
                </a:solidFill>
              </a:rPr>
              <a:t>Более подробную версию можете увидеть в прототипе</a:t>
            </a:r>
            <a:endParaRPr sz="1300" b="1" i="0" u="none" strike="noStrike" cap="none">
              <a:solidFill>
                <a:srgbClr val="F8FAFC"/>
              </a:solidFill>
            </a:endParaRPr>
          </a:p>
        </p:txBody>
      </p:sp>
      <p:pic>
        <p:nvPicPr>
          <p:cNvPr id="419" name="Google Shape;419;p32" title="qr-cod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00176" y="180250"/>
            <a:ext cx="1154450" cy="11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5" name="Google Shape;425;p33"/>
          <p:cNvCxnSpPr/>
          <p:nvPr/>
        </p:nvCxnSpPr>
        <p:spPr>
          <a:xfrm>
            <a:off x="329868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6" name="Google Shape;426;p33"/>
          <p:cNvCxnSpPr/>
          <p:nvPr/>
        </p:nvCxnSpPr>
        <p:spPr>
          <a:xfrm>
            <a:off x="609941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7" name="Google Shape;427;p33"/>
          <p:cNvSpPr txBox="1"/>
          <p:nvPr/>
        </p:nvSpPr>
        <p:spPr>
          <a:xfrm>
            <a:off x="6158118" y="497315"/>
            <a:ext cx="2346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Прототип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3"/>
          <p:cNvSpPr txBox="1"/>
          <p:nvPr/>
        </p:nvSpPr>
        <p:spPr>
          <a:xfrm>
            <a:off x="10337843" y="497315"/>
            <a:ext cx="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9" name="Google Shape;429;p33"/>
          <p:cNvCxnSpPr/>
          <p:nvPr/>
        </p:nvCxnSpPr>
        <p:spPr>
          <a:xfrm>
            <a:off x="11643868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0" name="Google Shape;430;p33"/>
          <p:cNvCxnSpPr/>
          <p:nvPr/>
        </p:nvCxnSpPr>
        <p:spPr>
          <a:xfrm>
            <a:off x="10277081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1" name="Google Shape;431;p33"/>
          <p:cNvSpPr txBox="1"/>
          <p:nvPr/>
        </p:nvSpPr>
        <p:spPr>
          <a:xfrm>
            <a:off x="198875" y="1433725"/>
            <a:ext cx="89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800" b="1">
                <a:solidFill>
                  <a:srgbClr val="102D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Прототип: Внесенные изменения </a:t>
            </a:r>
            <a:endParaRPr sz="2400" b="1" i="0" u="none" strike="noStrike" cap="none">
              <a:solidFill>
                <a:srgbClr val="102D69"/>
              </a:solidFill>
            </a:endParaRPr>
          </a:p>
        </p:txBody>
      </p:sp>
      <p:pic>
        <p:nvPicPr>
          <p:cNvPr id="432" name="Google Shape;43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5925" y="333177"/>
            <a:ext cx="848600" cy="8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3" title="Главная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475" y="2063062"/>
            <a:ext cx="2120600" cy="4316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3" title="оформление заказа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5860" y="2010375"/>
            <a:ext cx="2307258" cy="459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3" title="Карточка товара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5900" y="2010375"/>
            <a:ext cx="1890425" cy="447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3" title="Карточка товара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99150" y="2010375"/>
            <a:ext cx="1965525" cy="447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33" title="B2B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351550" y="2010375"/>
            <a:ext cx="2068426" cy="44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3"/>
          <p:cNvSpPr/>
          <p:nvPr/>
        </p:nvSpPr>
        <p:spPr>
          <a:xfrm>
            <a:off x="6454475" y="1433725"/>
            <a:ext cx="5189400" cy="400200"/>
          </a:xfrm>
          <a:prstGeom prst="roundRect">
            <a:avLst>
              <a:gd name="adj" fmla="val 16667"/>
            </a:avLst>
          </a:prstGeom>
          <a:solidFill>
            <a:srgbClr val="088931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>
                <a:solidFill>
                  <a:srgbClr val="F8FAFC"/>
                </a:solidFill>
              </a:rPr>
              <a:t>Более подробную версию можете увидеть в прототипе</a:t>
            </a:r>
            <a:endParaRPr sz="2000" b="1">
              <a:solidFill>
                <a:srgbClr val="F8FAFC"/>
              </a:solidFill>
            </a:endParaRPr>
          </a:p>
        </p:txBody>
      </p:sp>
      <p:pic>
        <p:nvPicPr>
          <p:cNvPr id="439" name="Google Shape;439;p33" title="qr-cod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900176" y="180250"/>
            <a:ext cx="1154450" cy="115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5" name="Google Shape;445;p34"/>
          <p:cNvCxnSpPr/>
          <p:nvPr/>
        </p:nvCxnSpPr>
        <p:spPr>
          <a:xfrm>
            <a:off x="329868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6" name="Google Shape;446;p34"/>
          <p:cNvCxnSpPr/>
          <p:nvPr/>
        </p:nvCxnSpPr>
        <p:spPr>
          <a:xfrm>
            <a:off x="609941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7" name="Google Shape;447;p34"/>
          <p:cNvSpPr txBox="1"/>
          <p:nvPr/>
        </p:nvSpPr>
        <p:spPr>
          <a:xfrm>
            <a:off x="6158118" y="497315"/>
            <a:ext cx="2346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Юнит экономика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4"/>
          <p:cNvSpPr txBox="1"/>
          <p:nvPr/>
        </p:nvSpPr>
        <p:spPr>
          <a:xfrm>
            <a:off x="10337843" y="497315"/>
            <a:ext cx="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34"/>
          <p:cNvCxnSpPr/>
          <p:nvPr/>
        </p:nvCxnSpPr>
        <p:spPr>
          <a:xfrm>
            <a:off x="11643868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0" name="Google Shape;450;p34"/>
          <p:cNvCxnSpPr/>
          <p:nvPr/>
        </p:nvCxnSpPr>
        <p:spPr>
          <a:xfrm>
            <a:off x="10277081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51" name="Google Shape;45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5925" y="333177"/>
            <a:ext cx="848600" cy="8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4" title="Flower-oran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46200" y="5317825"/>
            <a:ext cx="1645800" cy="1531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4" title="Flower-oran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0" y="5317800"/>
            <a:ext cx="1645800" cy="153194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4"/>
          <p:cNvSpPr/>
          <p:nvPr/>
        </p:nvSpPr>
        <p:spPr>
          <a:xfrm>
            <a:off x="652450" y="4024900"/>
            <a:ext cx="1926600" cy="9585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4"/>
          <p:cNvSpPr/>
          <p:nvPr/>
        </p:nvSpPr>
        <p:spPr>
          <a:xfrm>
            <a:off x="838450" y="4141975"/>
            <a:ext cx="15546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Юнит</a:t>
            </a:r>
            <a:b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600" b="1">
                <a:solidFill>
                  <a:schemeClr val="lt1"/>
                </a:solidFill>
              </a:rPr>
              <a:t>1</a:t>
            </a:r>
            <a:r>
              <a:rPr lang="en-GB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Заказ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5056425" y="5384650"/>
            <a:ext cx="2013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Три сценария: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4"/>
          <p:cNvSpPr/>
          <p:nvPr/>
        </p:nvSpPr>
        <p:spPr>
          <a:xfrm>
            <a:off x="3298675" y="5903375"/>
            <a:ext cx="1645800" cy="384000"/>
          </a:xfrm>
          <a:prstGeom prst="roundRect">
            <a:avLst>
              <a:gd name="adj" fmla="val 11905"/>
            </a:avLst>
          </a:prstGeom>
          <a:solidFill>
            <a:schemeClr val="lt1"/>
          </a:solidFill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4"/>
          <p:cNvSpPr/>
          <p:nvPr/>
        </p:nvSpPr>
        <p:spPr>
          <a:xfrm>
            <a:off x="3298675" y="5895275"/>
            <a:ext cx="1645800" cy="40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sz="2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4"/>
          <p:cNvSpPr/>
          <p:nvPr/>
        </p:nvSpPr>
        <p:spPr>
          <a:xfrm>
            <a:off x="5273106" y="5894079"/>
            <a:ext cx="1645800" cy="384000"/>
          </a:xfrm>
          <a:prstGeom prst="roundRect">
            <a:avLst>
              <a:gd name="adj" fmla="val 11905"/>
            </a:avLst>
          </a:prstGeom>
          <a:solidFill>
            <a:schemeClr val="lt1"/>
          </a:solidFill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4"/>
          <p:cNvSpPr/>
          <p:nvPr/>
        </p:nvSpPr>
        <p:spPr>
          <a:xfrm>
            <a:off x="5273106" y="5894079"/>
            <a:ext cx="1645800" cy="38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 sz="2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4"/>
          <p:cNvSpPr/>
          <p:nvPr/>
        </p:nvSpPr>
        <p:spPr>
          <a:xfrm>
            <a:off x="7193346" y="5894079"/>
            <a:ext cx="1645800" cy="384000"/>
          </a:xfrm>
          <a:prstGeom prst="roundRect">
            <a:avLst>
              <a:gd name="adj" fmla="val 11905"/>
            </a:avLst>
          </a:prstGeom>
          <a:solidFill>
            <a:schemeClr val="lt1"/>
          </a:solidFill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34"/>
          <p:cNvSpPr/>
          <p:nvPr/>
        </p:nvSpPr>
        <p:spPr>
          <a:xfrm>
            <a:off x="7193346" y="5894079"/>
            <a:ext cx="1645800" cy="38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4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24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4"/>
          <p:cNvSpPr txBox="1"/>
          <p:nvPr/>
        </p:nvSpPr>
        <p:spPr>
          <a:xfrm>
            <a:off x="517735" y="1302422"/>
            <a:ext cx="8965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800" b="1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Юнит-экономика </a:t>
            </a:r>
            <a:endParaRPr sz="2400" b="1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4"/>
          <p:cNvSpPr/>
          <p:nvPr/>
        </p:nvSpPr>
        <p:spPr>
          <a:xfrm>
            <a:off x="5324475" y="4024900"/>
            <a:ext cx="1926600" cy="9585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4"/>
          <p:cNvSpPr/>
          <p:nvPr/>
        </p:nvSpPr>
        <p:spPr>
          <a:xfrm>
            <a:off x="5510475" y="4141976"/>
            <a:ext cx="15546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>
                <a:solidFill>
                  <a:schemeClr val="lt1"/>
                </a:solidFill>
              </a:rPr>
              <a:t>CAC (Base) </a:t>
            </a:r>
            <a:endParaRPr sz="1600" b="1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>
                <a:solidFill>
                  <a:schemeClr val="lt1"/>
                </a:solidFill>
              </a:rPr>
              <a:t>1 500 ₽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652450" y="1946276"/>
            <a:ext cx="5399400" cy="174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467" name="Google Shape;467;p34"/>
          <p:cNvSpPr/>
          <p:nvPr/>
        </p:nvSpPr>
        <p:spPr>
          <a:xfrm>
            <a:off x="652450" y="2071038"/>
            <a:ext cx="3136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2200" b="1">
                <a:solidFill>
                  <a:srgbClr val="00B050"/>
                </a:solidFill>
              </a:rPr>
              <a:t>Логика расчета</a:t>
            </a:r>
            <a:endParaRPr sz="22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652450" y="2561804"/>
            <a:ext cx="5399400" cy="9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1E293B"/>
                </a:solidFill>
              </a:rPr>
              <a:t>Экономика считается на 2 уровнях:</a:t>
            </a:r>
            <a:endParaRPr sz="1300">
              <a:solidFill>
                <a:srgbClr val="1E293B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1E293B"/>
                </a:solidFill>
              </a:rPr>
              <a:t>• На уровне заказа → считаем прибыль с одного заказа (CM2)</a:t>
            </a:r>
            <a:endParaRPr sz="1300">
              <a:solidFill>
                <a:srgbClr val="1E293B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1E293B"/>
                </a:solidFill>
              </a:rPr>
              <a:t>• На уровне клиента → масштабируем через частоту заказов (LTV)</a:t>
            </a:r>
            <a:endParaRPr sz="1300">
              <a:solidFill>
                <a:srgbClr val="1E293B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b="1">
                <a:solidFill>
                  <a:schemeClr val="dk1"/>
                </a:solidFill>
              </a:rPr>
              <a:t>Ключевая формула модели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AOV → RPO → CM1 → CM2 → LTV → LTV/CAC → Payback</a:t>
            </a:r>
            <a:endParaRPr sz="1500">
              <a:solidFill>
                <a:srgbClr val="1E293B"/>
              </a:solidFill>
            </a:endParaRPr>
          </a:p>
        </p:txBody>
      </p:sp>
      <p:sp>
        <p:nvSpPr>
          <p:cNvPr id="469" name="Google Shape;469;p34"/>
          <p:cNvSpPr/>
          <p:nvPr/>
        </p:nvSpPr>
        <p:spPr>
          <a:xfrm>
            <a:off x="6337675" y="1946276"/>
            <a:ext cx="5399400" cy="1747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470" name="Google Shape;470;p34"/>
          <p:cNvSpPr/>
          <p:nvPr/>
        </p:nvSpPr>
        <p:spPr>
          <a:xfrm>
            <a:off x="6337675" y="2071038"/>
            <a:ext cx="3136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2200" b="1">
                <a:solidFill>
                  <a:srgbClr val="00B050"/>
                </a:solidFill>
              </a:rPr>
              <a:t>Подход к данным</a:t>
            </a:r>
            <a:endParaRPr sz="22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4"/>
          <p:cNvSpPr/>
          <p:nvPr/>
        </p:nvSpPr>
        <p:spPr>
          <a:xfrm>
            <a:off x="6337675" y="2561800"/>
            <a:ext cx="50997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rgbClr val="1E293B"/>
                </a:solidFill>
              </a:rPr>
              <a:t>• Публичные данные Flor2U (цены, доставка, бонусы)</a:t>
            </a:r>
            <a:endParaRPr sz="1500">
              <a:solidFill>
                <a:srgbClr val="1E293B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rgbClr val="1E293B"/>
                </a:solidFill>
              </a:rPr>
              <a:t>• Рыночные бенчмарки (COGS, комиссии, доставка)</a:t>
            </a:r>
            <a:endParaRPr sz="1500">
              <a:solidFill>
                <a:srgbClr val="1E293B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rgbClr val="1E293B"/>
                </a:solidFill>
              </a:rPr>
              <a:t>• Сценарное моделирование</a:t>
            </a:r>
            <a:endParaRPr sz="1500">
              <a:solidFill>
                <a:srgbClr val="1E293B"/>
              </a:solidFill>
            </a:endParaRPr>
          </a:p>
        </p:txBody>
      </p:sp>
      <p:sp>
        <p:nvSpPr>
          <p:cNvPr id="472" name="Google Shape;472;p34"/>
          <p:cNvSpPr/>
          <p:nvPr/>
        </p:nvSpPr>
        <p:spPr>
          <a:xfrm>
            <a:off x="9810475" y="3991600"/>
            <a:ext cx="1926600" cy="9585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4"/>
          <p:cNvSpPr/>
          <p:nvPr/>
        </p:nvSpPr>
        <p:spPr>
          <a:xfrm>
            <a:off x="9996475" y="4143475"/>
            <a:ext cx="15546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>
                <a:solidFill>
                  <a:schemeClr val="lt1"/>
                </a:solidFill>
              </a:rPr>
              <a:t>COGS букета 31–33%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4"/>
          <p:cNvSpPr/>
          <p:nvPr/>
        </p:nvSpPr>
        <p:spPr>
          <a:xfrm>
            <a:off x="2988463" y="4024900"/>
            <a:ext cx="1926600" cy="9585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4"/>
          <p:cNvSpPr/>
          <p:nvPr/>
        </p:nvSpPr>
        <p:spPr>
          <a:xfrm>
            <a:off x="3174450" y="4141975"/>
            <a:ext cx="15546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>
                <a:solidFill>
                  <a:schemeClr val="lt1"/>
                </a:solidFill>
              </a:rPr>
              <a:t>Горизонт </a:t>
            </a:r>
            <a:endParaRPr sz="1600" b="1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>
                <a:solidFill>
                  <a:schemeClr val="lt1"/>
                </a:solidFill>
              </a:rPr>
              <a:t>12 мес.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7567475" y="4016475"/>
            <a:ext cx="1926600" cy="9585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34"/>
          <p:cNvSpPr/>
          <p:nvPr/>
        </p:nvSpPr>
        <p:spPr>
          <a:xfrm>
            <a:off x="7753475" y="4133550"/>
            <a:ext cx="1554600" cy="7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>
                <a:solidFill>
                  <a:schemeClr val="lt1"/>
                </a:solidFill>
              </a:rPr>
              <a:t>Частота </a:t>
            </a:r>
            <a:endParaRPr sz="1600" b="1">
              <a:solidFill>
                <a:schemeClr val="lt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1">
                <a:solidFill>
                  <a:schemeClr val="lt1"/>
                </a:solidFill>
              </a:rPr>
              <a:t>2 зак./год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3" name="Google Shape;483;p35"/>
          <p:cNvCxnSpPr/>
          <p:nvPr/>
        </p:nvCxnSpPr>
        <p:spPr>
          <a:xfrm>
            <a:off x="329868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4" name="Google Shape;484;p35"/>
          <p:cNvCxnSpPr/>
          <p:nvPr/>
        </p:nvCxnSpPr>
        <p:spPr>
          <a:xfrm>
            <a:off x="609941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5" name="Google Shape;485;p35"/>
          <p:cNvCxnSpPr/>
          <p:nvPr/>
        </p:nvCxnSpPr>
        <p:spPr>
          <a:xfrm>
            <a:off x="10277081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6" name="Google Shape;486;p35"/>
          <p:cNvSpPr txBox="1"/>
          <p:nvPr/>
        </p:nvSpPr>
        <p:spPr>
          <a:xfrm>
            <a:off x="10337843" y="497315"/>
            <a:ext cx="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p35"/>
          <p:cNvCxnSpPr/>
          <p:nvPr/>
        </p:nvCxnSpPr>
        <p:spPr>
          <a:xfrm>
            <a:off x="11643868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8" name="Google Shape;488;p35"/>
          <p:cNvSpPr txBox="1"/>
          <p:nvPr/>
        </p:nvSpPr>
        <p:spPr>
          <a:xfrm>
            <a:off x="6158118" y="497315"/>
            <a:ext cx="2346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Текущая экономика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5"/>
          <p:cNvSpPr/>
          <p:nvPr/>
        </p:nvSpPr>
        <p:spPr>
          <a:xfrm>
            <a:off x="7335625" y="1702775"/>
            <a:ext cx="2177700" cy="1261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5"/>
          <p:cNvSpPr/>
          <p:nvPr/>
        </p:nvSpPr>
        <p:spPr>
          <a:xfrm>
            <a:off x="7763727" y="1812493"/>
            <a:ext cx="1389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CM2 / заказ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5"/>
          <p:cNvSpPr/>
          <p:nvPr/>
        </p:nvSpPr>
        <p:spPr>
          <a:xfrm>
            <a:off x="7763727" y="2114245"/>
            <a:ext cx="1389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7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2 256 ₽</a:t>
            </a:r>
            <a:endParaRPr sz="27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7763727" y="2635453"/>
            <a:ext cx="1389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45% от RPO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5"/>
          <p:cNvSpPr/>
          <p:nvPr/>
        </p:nvSpPr>
        <p:spPr>
          <a:xfrm>
            <a:off x="9757975" y="1702775"/>
            <a:ext cx="2288700" cy="1261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5"/>
          <p:cNvSpPr/>
          <p:nvPr/>
        </p:nvSpPr>
        <p:spPr>
          <a:xfrm>
            <a:off x="10139480" y="1827068"/>
            <a:ext cx="1389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LTV 12 мес.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10139480" y="2128820"/>
            <a:ext cx="1389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7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4 511 ₽</a:t>
            </a:r>
            <a:endParaRPr sz="27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5"/>
          <p:cNvSpPr/>
          <p:nvPr/>
        </p:nvSpPr>
        <p:spPr>
          <a:xfrm>
            <a:off x="10139480" y="2650028"/>
            <a:ext cx="1389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зак × CM2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7335725" y="3120075"/>
            <a:ext cx="2177700" cy="1261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5"/>
          <p:cNvSpPr/>
          <p:nvPr/>
        </p:nvSpPr>
        <p:spPr>
          <a:xfrm>
            <a:off x="7763727" y="3229813"/>
            <a:ext cx="1389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LTV / CAC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7763727" y="3531565"/>
            <a:ext cx="1389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9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3,0</a:t>
            </a:r>
            <a:endParaRPr sz="29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7318650" y="4052763"/>
            <a:ext cx="2288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порог ≥ 3,0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9757963" y="3120075"/>
            <a:ext cx="2288700" cy="1261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5"/>
          <p:cNvSpPr/>
          <p:nvPr/>
        </p:nvSpPr>
        <p:spPr>
          <a:xfrm>
            <a:off x="10139480" y="3380675"/>
            <a:ext cx="1389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Payback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10139480" y="3682428"/>
            <a:ext cx="1389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9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 мес.</a:t>
            </a:r>
            <a:endParaRPr sz="29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7335725" y="5589975"/>
            <a:ext cx="4710900" cy="945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05" name="Google Shape;505;p35"/>
          <p:cNvSpPr/>
          <p:nvPr/>
        </p:nvSpPr>
        <p:spPr>
          <a:xfrm>
            <a:off x="7335725" y="5739300"/>
            <a:ext cx="1628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2200" b="1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sz="22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5"/>
          <p:cNvSpPr/>
          <p:nvPr/>
        </p:nvSpPr>
        <p:spPr>
          <a:xfrm>
            <a:off x="7335731" y="5984520"/>
            <a:ext cx="4758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6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LTV 1 606 ₽  ·  LTV/CAC 0,5   ·  Payback 22 мес.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644825" y="1356363"/>
            <a:ext cx="8115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Текущая экономика: Base-сценарий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8" name="Google Shape;50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619" y="298565"/>
            <a:ext cx="848600" cy="8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575" y="3046878"/>
            <a:ext cx="5569651" cy="1261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575" y="4396735"/>
            <a:ext cx="5569651" cy="213914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5"/>
          <p:cNvSpPr/>
          <p:nvPr/>
        </p:nvSpPr>
        <p:spPr>
          <a:xfrm>
            <a:off x="7335725" y="4512975"/>
            <a:ext cx="4710900" cy="945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sp>
        <p:nvSpPr>
          <p:cNvPr id="512" name="Google Shape;512;p35"/>
          <p:cNvSpPr/>
          <p:nvPr/>
        </p:nvSpPr>
        <p:spPr>
          <a:xfrm>
            <a:off x="7335725" y="4662300"/>
            <a:ext cx="1628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2200" b="1">
                <a:solidFill>
                  <a:srgbClr val="00B050"/>
                </a:solidFill>
              </a:rPr>
              <a:t>High</a:t>
            </a:r>
            <a:endParaRPr sz="22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5"/>
          <p:cNvSpPr/>
          <p:nvPr/>
        </p:nvSpPr>
        <p:spPr>
          <a:xfrm>
            <a:off x="7335731" y="4907520"/>
            <a:ext cx="4758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1E293B"/>
                </a:solidFill>
              </a:rPr>
              <a:t>LTV 9 554 ₽  ·  LTV/CAC 9,6   ·  Payback 1,3 мес.</a:t>
            </a:r>
            <a:endParaRPr sz="1600">
              <a:solidFill>
                <a:srgbClr val="1E293B"/>
              </a:solidFill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777575" y="2004075"/>
            <a:ext cx="5569800" cy="9459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5"/>
          <p:cNvSpPr/>
          <p:nvPr/>
        </p:nvSpPr>
        <p:spPr>
          <a:xfrm>
            <a:off x="777575" y="2176625"/>
            <a:ext cx="5569800" cy="5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700" b="1">
                <a:solidFill>
                  <a:srgbClr val="00B050"/>
                </a:solidFill>
              </a:rPr>
              <a:t>AOV = 5 279₽</a:t>
            </a:r>
            <a:br>
              <a:rPr lang="en-GB" sz="2700" b="1">
                <a:solidFill>
                  <a:srgbClr val="00B050"/>
                </a:solidFill>
              </a:rPr>
            </a:br>
            <a:r>
              <a:rPr lang="en-GB" sz="2700" b="1">
                <a:solidFill>
                  <a:srgbClr val="00B050"/>
                </a:solidFill>
              </a:rPr>
              <a:t>RPO = AOV </a:t>
            </a:r>
            <a:r>
              <a:rPr lang="en-GB" sz="2700" b="1">
                <a:solidFill>
                  <a:srgbClr val="088931"/>
                </a:solidFill>
                <a:highlight>
                  <a:srgbClr val="FFFFFF"/>
                </a:highlight>
              </a:rPr>
              <a:t>·</a:t>
            </a:r>
            <a:r>
              <a:rPr lang="en-GB" sz="2700" b="1">
                <a:solidFill>
                  <a:srgbClr val="088931"/>
                </a:solidFill>
              </a:rPr>
              <a:t> </a:t>
            </a:r>
            <a:r>
              <a:rPr lang="en-GB" sz="2700" b="1">
                <a:solidFill>
                  <a:srgbClr val="00B050"/>
                </a:solidFill>
              </a:rPr>
              <a:t>(1 - Discount)</a:t>
            </a:r>
            <a:endParaRPr sz="2700" b="0" i="0" u="none" strike="noStrike" cap="non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1" name="Google Shape;521;p36"/>
          <p:cNvCxnSpPr/>
          <p:nvPr/>
        </p:nvCxnSpPr>
        <p:spPr>
          <a:xfrm>
            <a:off x="329868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2" name="Google Shape;522;p36"/>
          <p:cNvCxnSpPr/>
          <p:nvPr/>
        </p:nvCxnSpPr>
        <p:spPr>
          <a:xfrm>
            <a:off x="609941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3" name="Google Shape;523;p36"/>
          <p:cNvCxnSpPr/>
          <p:nvPr/>
        </p:nvCxnSpPr>
        <p:spPr>
          <a:xfrm>
            <a:off x="10277081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4" name="Google Shape;524;p36"/>
          <p:cNvSpPr txBox="1"/>
          <p:nvPr/>
        </p:nvSpPr>
        <p:spPr>
          <a:xfrm>
            <a:off x="10337843" y="497315"/>
            <a:ext cx="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5" name="Google Shape;525;p36"/>
          <p:cNvCxnSpPr/>
          <p:nvPr/>
        </p:nvCxnSpPr>
        <p:spPr>
          <a:xfrm>
            <a:off x="11643868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6" name="Google Shape;526;p36"/>
          <p:cNvSpPr txBox="1"/>
          <p:nvPr/>
        </p:nvSpPr>
        <p:spPr>
          <a:xfrm>
            <a:off x="6158118" y="497315"/>
            <a:ext cx="2346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>
                <a:solidFill>
                  <a:schemeClr val="dk1"/>
                </a:solidFill>
              </a:rPr>
              <a:t>Текущая экономика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Google Shape;52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619" y="298565"/>
            <a:ext cx="848600" cy="8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6"/>
          <p:cNvSpPr/>
          <p:nvPr/>
        </p:nvSpPr>
        <p:spPr>
          <a:xfrm>
            <a:off x="486350" y="2657125"/>
            <a:ext cx="11347500" cy="1097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6"/>
          <p:cNvSpPr/>
          <p:nvPr/>
        </p:nvSpPr>
        <p:spPr>
          <a:xfrm>
            <a:off x="486347" y="2681963"/>
            <a:ext cx="611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2100" b="1" i="0" u="none" strike="noStrike" cap="none">
                <a:solidFill>
                  <a:srgbClr val="229C6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100" b="0" i="0" u="none" strike="noStrike" cap="none">
              <a:solidFill>
                <a:srgbClr val="229C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1035002" y="2730275"/>
            <a:ext cx="3623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20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Точное время доставки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6"/>
          <p:cNvSpPr/>
          <p:nvPr/>
        </p:nvSpPr>
        <p:spPr>
          <a:xfrm>
            <a:off x="9724810" y="3114315"/>
            <a:ext cx="1737300" cy="34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C7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b="1" i="0" u="none" strike="noStrike" cap="none">
                <a:solidFill>
                  <a:srgbClr val="229C66"/>
                </a:solidFill>
                <a:latin typeface="Calibri"/>
                <a:ea typeface="Calibri"/>
                <a:cs typeface="Calibri"/>
                <a:sym typeface="Calibri"/>
              </a:rPr>
              <a:t>+84 ₽ к RPO / заказ</a:t>
            </a:r>
            <a:endParaRPr b="1" i="0" u="none" strike="noStrike" cap="none">
              <a:solidFill>
                <a:srgbClr val="229C66"/>
              </a:solidFill>
            </a:endParaRPr>
          </a:p>
        </p:txBody>
      </p:sp>
      <p:sp>
        <p:nvSpPr>
          <p:cNvPr id="532" name="Google Shape;532;p36"/>
          <p:cNvSpPr/>
          <p:nvPr/>
        </p:nvSpPr>
        <p:spPr>
          <a:xfrm>
            <a:off x="1035000" y="3191500"/>
            <a:ext cx="643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Пользователь доплачивает за точное время. Надбавка зафиксирована в модели как delivery surcharge.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6"/>
          <p:cNvSpPr/>
          <p:nvPr/>
        </p:nvSpPr>
        <p:spPr>
          <a:xfrm>
            <a:off x="486350" y="3891575"/>
            <a:ext cx="11347500" cy="1097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6"/>
          <p:cNvSpPr/>
          <p:nvPr/>
        </p:nvSpPr>
        <p:spPr>
          <a:xfrm>
            <a:off x="486347" y="3916400"/>
            <a:ext cx="611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2000" b="1" i="0" u="none" strike="noStrike" cap="none">
                <a:solidFill>
                  <a:srgbClr val="229C6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000" b="0" i="0" u="none" strike="noStrike" cap="none">
              <a:solidFill>
                <a:srgbClr val="229C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6"/>
          <p:cNvSpPr/>
          <p:nvPr/>
        </p:nvSpPr>
        <p:spPr>
          <a:xfrm>
            <a:off x="1035002" y="3964713"/>
            <a:ext cx="3623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700" b="1" i="0" u="none" strike="noStrike" cap="none">
                <a:solidFill>
                  <a:srgbClr val="1E293B"/>
                </a:solidFill>
              </a:rPr>
              <a:t>Прозрачность размера бук</a:t>
            </a:r>
            <a:r>
              <a:rPr lang="en-GB" sz="1700" b="1">
                <a:solidFill>
                  <a:srgbClr val="1E293B"/>
                </a:solidFill>
              </a:rPr>
              <a:t>ета</a:t>
            </a:r>
            <a:endParaRPr sz="17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9724810" y="4266568"/>
            <a:ext cx="1737300" cy="34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C7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b="1" i="0" u="none" strike="noStrike" cap="none">
                <a:solidFill>
                  <a:srgbClr val="229C66"/>
                </a:solidFill>
                <a:latin typeface="Calibri"/>
                <a:ea typeface="Calibri"/>
                <a:cs typeface="Calibri"/>
                <a:sym typeface="Calibri"/>
              </a:rPr>
              <a:t>Частота 2,0 → 2,2</a:t>
            </a:r>
            <a:endParaRPr b="1" i="0" u="none" strike="noStrike" cap="none">
              <a:solidFill>
                <a:srgbClr val="229C66"/>
              </a:solidFill>
            </a:endParaRPr>
          </a:p>
        </p:txBody>
      </p:sp>
      <p:sp>
        <p:nvSpPr>
          <p:cNvPr id="537" name="Google Shape;537;p36"/>
          <p:cNvSpPr/>
          <p:nvPr/>
        </p:nvSpPr>
        <p:spPr>
          <a:xfrm>
            <a:off x="1035000" y="4348800"/>
            <a:ext cx="70761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Снижение разочарований после получения </a:t>
            </a:r>
            <a:r>
              <a:rPr lang="en-GB" sz="1700">
                <a:solidFill>
                  <a:schemeClr val="dk1"/>
                </a:solidFill>
              </a:rPr>
              <a:t>-&gt; </a:t>
            </a:r>
            <a:r>
              <a:rPr lang="en-GB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меньше оттока </a:t>
            </a:r>
            <a:r>
              <a:rPr lang="en-GB" sz="1700">
                <a:solidFill>
                  <a:schemeClr val="dk1"/>
                </a:solidFill>
              </a:rPr>
              <a:t>-</a:t>
            </a:r>
            <a:r>
              <a:rPr lang="en-GB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рост повторных покупок. Консервативный прогноз: +10% к частоте.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6"/>
          <p:cNvSpPr/>
          <p:nvPr/>
        </p:nvSpPr>
        <p:spPr>
          <a:xfrm>
            <a:off x="486350" y="5126000"/>
            <a:ext cx="11347500" cy="10974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127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36"/>
          <p:cNvSpPr/>
          <p:nvPr/>
        </p:nvSpPr>
        <p:spPr>
          <a:xfrm>
            <a:off x="486347" y="5150838"/>
            <a:ext cx="611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2000" b="1" i="0" u="none" strike="noStrike" cap="none">
                <a:solidFill>
                  <a:srgbClr val="229C6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000" b="0" i="0" u="none" strike="noStrike" cap="none">
              <a:solidFill>
                <a:srgbClr val="229C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6"/>
          <p:cNvSpPr/>
          <p:nvPr/>
        </p:nvSpPr>
        <p:spPr>
          <a:xfrm>
            <a:off x="1035002" y="5199151"/>
            <a:ext cx="3623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700" b="1" i="0" u="none" strike="noStrike" cap="none">
                <a:solidFill>
                  <a:srgbClr val="1E293B"/>
                </a:solidFill>
              </a:rPr>
              <a:t>B2B-кабинет</a:t>
            </a:r>
            <a:endParaRPr sz="17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41" name="Google Shape;541;p36"/>
          <p:cNvSpPr/>
          <p:nvPr/>
        </p:nvSpPr>
        <p:spPr>
          <a:xfrm>
            <a:off x="9724810" y="5514120"/>
            <a:ext cx="1737300" cy="34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C7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b="1">
                <a:solidFill>
                  <a:srgbClr val="229C66"/>
                </a:solidFill>
                <a:latin typeface="Calibri"/>
                <a:ea typeface="Calibri"/>
                <a:cs typeface="Calibri"/>
                <a:sym typeface="Calibri"/>
              </a:rPr>
              <a:t>COGS% 33% → 30%</a:t>
            </a:r>
            <a:endParaRPr b="1" i="0" u="none" strike="noStrike" cap="none">
              <a:solidFill>
                <a:srgbClr val="229C66"/>
              </a:solidFill>
            </a:endParaRPr>
          </a:p>
        </p:txBody>
      </p:sp>
      <p:sp>
        <p:nvSpPr>
          <p:cNvPr id="542" name="Google Shape;542;p36"/>
          <p:cNvSpPr/>
          <p:nvPr/>
        </p:nvSpPr>
        <p:spPr>
          <a:xfrm>
            <a:off x="1035000" y="5642725"/>
            <a:ext cx="7996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15–50 букетов за один заказ. Объём закупки растёт и COGS снижается с 33% до ~30%.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6"/>
          <p:cNvSpPr/>
          <p:nvPr/>
        </p:nvSpPr>
        <p:spPr>
          <a:xfrm>
            <a:off x="458250" y="1579507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Три точки роста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9" name="Google Shape;549;p37"/>
          <p:cNvCxnSpPr/>
          <p:nvPr/>
        </p:nvCxnSpPr>
        <p:spPr>
          <a:xfrm>
            <a:off x="329868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50" name="Google Shape;550;p37"/>
          <p:cNvCxnSpPr/>
          <p:nvPr/>
        </p:nvCxnSpPr>
        <p:spPr>
          <a:xfrm>
            <a:off x="6099416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51" name="Google Shape;551;p37"/>
          <p:cNvCxnSpPr/>
          <p:nvPr/>
        </p:nvCxnSpPr>
        <p:spPr>
          <a:xfrm>
            <a:off x="10277081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2" name="Google Shape;552;p37"/>
          <p:cNvSpPr txBox="1"/>
          <p:nvPr/>
        </p:nvSpPr>
        <p:spPr>
          <a:xfrm>
            <a:off x="10337843" y="497315"/>
            <a:ext cx="67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GB" sz="20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20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37"/>
          <p:cNvCxnSpPr/>
          <p:nvPr/>
        </p:nvCxnSpPr>
        <p:spPr>
          <a:xfrm>
            <a:off x="11643868" y="464363"/>
            <a:ext cx="0" cy="5862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4" name="Google Shape;554;p37"/>
          <p:cNvSpPr txBox="1"/>
          <p:nvPr/>
        </p:nvSpPr>
        <p:spPr>
          <a:xfrm>
            <a:off x="6158118" y="497315"/>
            <a:ext cx="2346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Анализ внутренней среды компании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5" name="Google Shape;555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619" y="298565"/>
            <a:ext cx="848600" cy="8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7"/>
          <p:cNvSpPr/>
          <p:nvPr/>
        </p:nvSpPr>
        <p:spPr>
          <a:xfrm>
            <a:off x="5093125" y="1801525"/>
            <a:ext cx="2717700" cy="508500"/>
          </a:xfrm>
          <a:prstGeom prst="rect">
            <a:avLst/>
          </a:prstGeom>
          <a:solidFill>
            <a:srgbClr val="E2E8F0"/>
          </a:solidFill>
          <a:ln w="168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075" tIns="121075" rIns="121075" bIns="121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7"/>
          <p:cNvSpPr/>
          <p:nvPr/>
        </p:nvSpPr>
        <p:spPr>
          <a:xfrm>
            <a:off x="5158525" y="1801525"/>
            <a:ext cx="2586900" cy="5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9"/>
              <a:buFont typeface="Arial"/>
              <a:buNone/>
            </a:pPr>
            <a:r>
              <a:rPr lang="en-GB" sz="158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</a:t>
            </a:r>
            <a:r>
              <a:rPr lang="en-GB" sz="1589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</a:t>
            </a:r>
            <a:r>
              <a:rPr lang="en-GB" sz="158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фич (Base)</a:t>
            </a:r>
            <a:endParaRPr sz="15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8409076" y="1801500"/>
            <a:ext cx="3451500" cy="508500"/>
          </a:xfrm>
          <a:prstGeom prst="rect">
            <a:avLst/>
          </a:prstGeom>
          <a:solidFill>
            <a:srgbClr val="028090"/>
          </a:solidFill>
          <a:ln w="16825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075" tIns="121075" rIns="121075" bIns="121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7"/>
          <p:cNvSpPr/>
          <p:nvPr/>
        </p:nvSpPr>
        <p:spPr>
          <a:xfrm>
            <a:off x="8409076" y="1801500"/>
            <a:ext cx="3451500" cy="508500"/>
          </a:xfrm>
          <a:prstGeom prst="rect">
            <a:avLst/>
          </a:prstGeom>
          <a:solidFill>
            <a:srgbClr val="088931"/>
          </a:solidFill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9"/>
              <a:buFont typeface="Arial"/>
              <a:buNone/>
            </a:pPr>
            <a:r>
              <a:rPr lang="en-GB" sz="1589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ПОСЛЕ фич (прогноз)</a:t>
            </a:r>
            <a:endParaRPr sz="15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401826" y="2443350"/>
            <a:ext cx="11640300" cy="581400"/>
          </a:xfrm>
          <a:prstGeom prst="rect">
            <a:avLst/>
          </a:prstGeom>
          <a:solidFill>
            <a:srgbClr val="FFFFFF"/>
          </a:solidFill>
          <a:ln w="126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075" tIns="121075" rIns="121075" bIns="121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7"/>
          <p:cNvSpPr/>
          <p:nvPr/>
        </p:nvSpPr>
        <p:spPr>
          <a:xfrm>
            <a:off x="531164" y="2564455"/>
            <a:ext cx="3621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9"/>
              <a:buFont typeface="Arial"/>
              <a:buNone/>
            </a:pPr>
            <a:r>
              <a:rPr lang="en-GB" sz="158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RPO (выручка/заказ)</a:t>
            </a:r>
            <a:endParaRPr sz="15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4281965" y="2540234"/>
            <a:ext cx="3686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4 993 ₽</a:t>
            </a:r>
            <a:endParaRPr sz="185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7"/>
          <p:cNvSpPr/>
          <p:nvPr/>
        </p:nvSpPr>
        <p:spPr>
          <a:xfrm>
            <a:off x="8162103" y="2540234"/>
            <a:ext cx="258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5 </a:t>
            </a:r>
            <a:r>
              <a:rPr lang="en-GB" sz="1854" b="1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077</a:t>
            </a: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 ₽</a:t>
            </a:r>
            <a:endParaRPr sz="1854" b="0" i="0" u="none" strike="noStrike" cap="none">
              <a:solidFill>
                <a:srgbClr val="08893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10813532" y="2540234"/>
            <a:ext cx="1099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2"/>
              <a:buFont typeface="Arial"/>
              <a:buNone/>
            </a:pP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GB" sz="1722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722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401826" y="3060983"/>
            <a:ext cx="11640300" cy="581400"/>
          </a:xfrm>
          <a:prstGeom prst="rect">
            <a:avLst/>
          </a:prstGeom>
          <a:solidFill>
            <a:schemeClr val="lt1"/>
          </a:solidFill>
          <a:ln w="126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075" tIns="121075" rIns="121075" bIns="121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37"/>
          <p:cNvSpPr/>
          <p:nvPr/>
        </p:nvSpPr>
        <p:spPr>
          <a:xfrm>
            <a:off x="531164" y="3182088"/>
            <a:ext cx="3621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9"/>
              <a:buFont typeface="Arial"/>
              <a:buNone/>
            </a:pPr>
            <a:r>
              <a:rPr lang="en-GB" sz="158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CM2, %</a:t>
            </a:r>
            <a:endParaRPr sz="15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7"/>
          <p:cNvSpPr/>
          <p:nvPr/>
        </p:nvSpPr>
        <p:spPr>
          <a:xfrm>
            <a:off x="4281965" y="3157867"/>
            <a:ext cx="3686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45%</a:t>
            </a:r>
            <a:endParaRPr sz="185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7"/>
          <p:cNvSpPr/>
          <p:nvPr/>
        </p:nvSpPr>
        <p:spPr>
          <a:xfrm>
            <a:off x="8162103" y="3157867"/>
            <a:ext cx="258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GB" sz="1854" b="1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854" b="0" i="0" u="none" strike="noStrike" cap="none">
              <a:solidFill>
                <a:srgbClr val="08893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7"/>
          <p:cNvSpPr/>
          <p:nvPr/>
        </p:nvSpPr>
        <p:spPr>
          <a:xfrm>
            <a:off x="10813532" y="3157867"/>
            <a:ext cx="1099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2"/>
              <a:buFont typeface="Arial"/>
              <a:buNone/>
            </a:pP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GB" sz="1722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 п.п.</a:t>
            </a:r>
            <a:endParaRPr sz="1722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401826" y="3678617"/>
            <a:ext cx="11640300" cy="581400"/>
          </a:xfrm>
          <a:prstGeom prst="rect">
            <a:avLst/>
          </a:prstGeom>
          <a:solidFill>
            <a:srgbClr val="FFFFFF"/>
          </a:solidFill>
          <a:ln w="126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075" tIns="121075" rIns="121075" bIns="121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7"/>
          <p:cNvSpPr/>
          <p:nvPr/>
        </p:nvSpPr>
        <p:spPr>
          <a:xfrm>
            <a:off x="531164" y="3799721"/>
            <a:ext cx="3621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9"/>
              <a:buFont typeface="Arial"/>
              <a:buNone/>
            </a:pPr>
            <a:r>
              <a:rPr lang="en-GB" sz="158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CM2 / заказ</a:t>
            </a:r>
            <a:endParaRPr sz="15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4281965" y="3775500"/>
            <a:ext cx="3686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2 256 ₽</a:t>
            </a:r>
            <a:endParaRPr sz="185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7"/>
          <p:cNvSpPr/>
          <p:nvPr/>
        </p:nvSpPr>
        <p:spPr>
          <a:xfrm>
            <a:off x="8162103" y="3775500"/>
            <a:ext cx="258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GB" sz="1854" b="1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381</a:t>
            </a: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 ₽</a:t>
            </a:r>
            <a:endParaRPr sz="1854" b="0" i="0" u="none" strike="noStrike" cap="none">
              <a:solidFill>
                <a:srgbClr val="08893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7"/>
          <p:cNvSpPr/>
          <p:nvPr/>
        </p:nvSpPr>
        <p:spPr>
          <a:xfrm>
            <a:off x="10813532" y="3775500"/>
            <a:ext cx="1099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2"/>
              <a:buFont typeface="Arial"/>
              <a:buNone/>
            </a:pP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GB" sz="1722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722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401826" y="4296250"/>
            <a:ext cx="11640300" cy="581400"/>
          </a:xfrm>
          <a:prstGeom prst="rect">
            <a:avLst/>
          </a:prstGeom>
          <a:solidFill>
            <a:schemeClr val="lt1"/>
          </a:solidFill>
          <a:ln w="126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075" tIns="121075" rIns="121075" bIns="121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37"/>
          <p:cNvSpPr/>
          <p:nvPr/>
        </p:nvSpPr>
        <p:spPr>
          <a:xfrm>
            <a:off x="531164" y="4417355"/>
            <a:ext cx="3621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9"/>
              <a:buFont typeface="Arial"/>
              <a:buNone/>
            </a:pPr>
            <a:r>
              <a:rPr lang="en-GB" sz="158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Частота / год</a:t>
            </a:r>
            <a:endParaRPr sz="15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7"/>
          <p:cNvSpPr/>
          <p:nvPr/>
        </p:nvSpPr>
        <p:spPr>
          <a:xfrm>
            <a:off x="4281965" y="4393134"/>
            <a:ext cx="3686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2,0</a:t>
            </a:r>
            <a:endParaRPr sz="185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7"/>
          <p:cNvSpPr/>
          <p:nvPr/>
        </p:nvSpPr>
        <p:spPr>
          <a:xfrm>
            <a:off x="8162103" y="4393134"/>
            <a:ext cx="258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2,2</a:t>
            </a:r>
            <a:endParaRPr sz="1854" b="0" i="0" u="none" strike="noStrike" cap="none">
              <a:solidFill>
                <a:srgbClr val="08893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7"/>
          <p:cNvSpPr/>
          <p:nvPr/>
        </p:nvSpPr>
        <p:spPr>
          <a:xfrm>
            <a:off x="10813532" y="4393134"/>
            <a:ext cx="1099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2"/>
              <a:buFont typeface="Arial"/>
              <a:buNone/>
            </a:pP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+10%</a:t>
            </a:r>
            <a:endParaRPr sz="1722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7"/>
          <p:cNvSpPr/>
          <p:nvPr/>
        </p:nvSpPr>
        <p:spPr>
          <a:xfrm>
            <a:off x="401826" y="4913884"/>
            <a:ext cx="11640300" cy="581400"/>
          </a:xfrm>
          <a:prstGeom prst="rect">
            <a:avLst/>
          </a:prstGeom>
          <a:solidFill>
            <a:srgbClr val="FFFFFF"/>
          </a:solidFill>
          <a:ln w="126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075" tIns="121075" rIns="121075" bIns="121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37"/>
          <p:cNvSpPr/>
          <p:nvPr/>
        </p:nvSpPr>
        <p:spPr>
          <a:xfrm>
            <a:off x="531164" y="5034988"/>
            <a:ext cx="3621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9"/>
              <a:buFont typeface="Arial"/>
              <a:buNone/>
            </a:pPr>
            <a:r>
              <a:rPr lang="en-GB" sz="158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LTV 12 мес.</a:t>
            </a:r>
            <a:endParaRPr sz="15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7"/>
          <p:cNvSpPr/>
          <p:nvPr/>
        </p:nvSpPr>
        <p:spPr>
          <a:xfrm>
            <a:off x="4281965" y="5010767"/>
            <a:ext cx="3686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4 511 ₽</a:t>
            </a:r>
            <a:endParaRPr sz="185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7"/>
          <p:cNvSpPr/>
          <p:nvPr/>
        </p:nvSpPr>
        <p:spPr>
          <a:xfrm>
            <a:off x="8162103" y="5010767"/>
            <a:ext cx="258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5 </a:t>
            </a:r>
            <a:r>
              <a:rPr lang="en-GB" sz="1854" b="1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258</a:t>
            </a: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 ₽</a:t>
            </a:r>
            <a:endParaRPr sz="1854" b="0" i="0" u="none" strike="noStrike" cap="none">
              <a:solidFill>
                <a:srgbClr val="08893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7"/>
          <p:cNvSpPr/>
          <p:nvPr/>
        </p:nvSpPr>
        <p:spPr>
          <a:xfrm>
            <a:off x="10813532" y="5010767"/>
            <a:ext cx="1099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2"/>
              <a:buFont typeface="Arial"/>
              <a:buNone/>
            </a:pP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GB" sz="1722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722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7"/>
          <p:cNvSpPr/>
          <p:nvPr/>
        </p:nvSpPr>
        <p:spPr>
          <a:xfrm>
            <a:off x="401826" y="5531517"/>
            <a:ext cx="11640300" cy="581400"/>
          </a:xfrm>
          <a:prstGeom prst="rect">
            <a:avLst/>
          </a:prstGeom>
          <a:solidFill>
            <a:schemeClr val="lt1"/>
          </a:solidFill>
          <a:ln w="126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075" tIns="121075" rIns="121075" bIns="121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37"/>
          <p:cNvSpPr/>
          <p:nvPr/>
        </p:nvSpPr>
        <p:spPr>
          <a:xfrm>
            <a:off x="531164" y="5652622"/>
            <a:ext cx="3621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9"/>
              <a:buFont typeface="Arial"/>
              <a:buNone/>
            </a:pPr>
            <a:r>
              <a:rPr lang="en-GB" sz="158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LTV / CAC</a:t>
            </a:r>
            <a:endParaRPr sz="15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7"/>
          <p:cNvSpPr/>
          <p:nvPr/>
        </p:nvSpPr>
        <p:spPr>
          <a:xfrm>
            <a:off x="4281965" y="5628401"/>
            <a:ext cx="3686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3,0</a:t>
            </a:r>
            <a:endParaRPr sz="185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7"/>
          <p:cNvSpPr/>
          <p:nvPr/>
        </p:nvSpPr>
        <p:spPr>
          <a:xfrm>
            <a:off x="8162103" y="5628401"/>
            <a:ext cx="258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3,</a:t>
            </a:r>
            <a:r>
              <a:rPr lang="en-GB" sz="1854" b="1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54" b="0" i="0" u="none" strike="noStrike" cap="none">
              <a:solidFill>
                <a:srgbClr val="08893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10813532" y="5628401"/>
            <a:ext cx="1099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2"/>
              <a:buFont typeface="Arial"/>
              <a:buNone/>
            </a:pP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GB" sz="1722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en-GB" sz="1722" b="1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722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7"/>
          <p:cNvSpPr/>
          <p:nvPr/>
        </p:nvSpPr>
        <p:spPr>
          <a:xfrm>
            <a:off x="401826" y="6149150"/>
            <a:ext cx="11640300" cy="581400"/>
          </a:xfrm>
          <a:prstGeom prst="rect">
            <a:avLst/>
          </a:prstGeom>
          <a:solidFill>
            <a:srgbClr val="FFFFFF"/>
          </a:solidFill>
          <a:ln w="126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075" tIns="121075" rIns="121075" bIns="1210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37"/>
          <p:cNvSpPr/>
          <p:nvPr/>
        </p:nvSpPr>
        <p:spPr>
          <a:xfrm>
            <a:off x="531164" y="6270255"/>
            <a:ext cx="36213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9"/>
              <a:buFont typeface="Arial"/>
              <a:buNone/>
            </a:pPr>
            <a:r>
              <a:rPr lang="en-GB" sz="158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Payback</a:t>
            </a:r>
            <a:endParaRPr sz="15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7"/>
          <p:cNvSpPr/>
          <p:nvPr/>
        </p:nvSpPr>
        <p:spPr>
          <a:xfrm>
            <a:off x="4281965" y="6246034"/>
            <a:ext cx="3686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4,0 мес.</a:t>
            </a:r>
            <a:endParaRPr sz="1854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7"/>
          <p:cNvSpPr/>
          <p:nvPr/>
        </p:nvSpPr>
        <p:spPr>
          <a:xfrm>
            <a:off x="8162103" y="6246034"/>
            <a:ext cx="258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4"/>
              <a:buFont typeface="Arial"/>
              <a:buNone/>
            </a:pP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3,</a:t>
            </a:r>
            <a:r>
              <a:rPr lang="en-GB" sz="1854" b="1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GB" sz="1854" b="1" i="0" u="none" strike="noStrike" cap="none">
                <a:solidFill>
                  <a:srgbClr val="088931"/>
                </a:solidFill>
                <a:latin typeface="Calibri"/>
                <a:ea typeface="Calibri"/>
                <a:cs typeface="Calibri"/>
                <a:sym typeface="Calibri"/>
              </a:rPr>
              <a:t> мес.</a:t>
            </a:r>
            <a:endParaRPr sz="1854" b="0" i="0" u="none" strike="noStrike" cap="none">
              <a:solidFill>
                <a:srgbClr val="08893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7"/>
          <p:cNvSpPr/>
          <p:nvPr/>
        </p:nvSpPr>
        <p:spPr>
          <a:xfrm>
            <a:off x="10813532" y="6246034"/>
            <a:ext cx="1099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075" tIns="60525" rIns="121075" bIns="605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2"/>
              <a:buFont typeface="Arial"/>
              <a:buNone/>
            </a:pPr>
            <a:r>
              <a:rPr lang="en-GB" sz="1722" b="1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-15</a:t>
            </a:r>
            <a:r>
              <a:rPr lang="en-GB" sz="1722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7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7"/>
          <p:cNvSpPr/>
          <p:nvPr/>
        </p:nvSpPr>
        <p:spPr>
          <a:xfrm>
            <a:off x="401825" y="1533150"/>
            <a:ext cx="3530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GB" sz="2800" b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До и после: ключевые метрики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Microsoft Office PowerPoint</Application>
  <PresentationFormat>Широкоэкранный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Impact</vt:lpstr>
      <vt:lpstr>Times New Roman</vt:lpstr>
      <vt:lpstr>Тема Office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aleksandr statev</dc:creator>
  <cp:lastModifiedBy>aleksandr statev</cp:lastModifiedBy>
  <cp:revision>1</cp:revision>
  <dcterms:modified xsi:type="dcterms:W3CDTF">2026-05-31T06:22:08Z</dcterms:modified>
</cp:coreProperties>
</file>